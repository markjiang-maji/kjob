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kjob 讓使用者在 Notebook 寫好程式後，把訓練交給叢集上的 GPU 執行，指令和國網的 Slurm 很像。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工作會複製 Notebook 的 image、工作目錄和共用磁碟，所以程式不用改路徑。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-title"/>
          <p:cNvSpPr txBox="1"/>
          <p:nvPr/>
        </p:nvSpPr>
        <p:spPr>
          <a:xfrm>
            <a:off x="731520" y="1234440"/>
            <a:ext cx="603504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Calibri"/>
                <a:ea typeface="Microsoft JhengHei"/>
              </a:rPr>
              <a:t>kjob</a:t>
            </a:r>
          </a:p>
        </p:txBody>
      </p:sp>
      <p:sp>
        <p:nvSpPr>
          <p:cNvPr id="3" name="deck-sub"/>
          <p:cNvSpPr txBox="1"/>
          <p:nvPr/>
        </p:nvSpPr>
        <p:spPr>
          <a:xfrm>
            <a:off x="731520" y="2514600"/>
            <a:ext cx="60350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4FD69C"/>
                </a:solidFill>
                <a:latin typeface="Calibri"/>
                <a:ea typeface="Microsoft JhengHei"/>
              </a:rPr>
              <a:t>在 Notebook 裡，像國網一樣提交 GPU 工作</a:t>
            </a:r>
          </a:p>
        </p:txBody>
      </p:sp>
      <p:sp>
        <p:nvSpPr>
          <p:cNvPr id="4" name="deck-topics"/>
          <p:cNvSpPr txBox="1"/>
          <p:nvPr/>
        </p:nvSpPr>
        <p:spPr>
          <a:xfrm>
            <a:off x="731520" y="3840480"/>
            <a:ext cx="58521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C9D4DE"/>
                </a:solidFill>
                <a:latin typeface="Calibri"/>
                <a:ea typeface="Microsoft JhengHei"/>
              </a:rPr>
              <a:t>安裝 · 提交 · 監看 · 叢集狀態 · AI 助手</a:t>
            </a:r>
          </a:p>
        </p:txBody>
      </p:sp>
      <p:sp>
        <p:nvSpPr>
          <p:cNvPr id="5" name="deck-url"/>
          <p:cNvSpPr txBox="1"/>
          <p:nvPr/>
        </p:nvSpPr>
        <p:spPr>
          <a:xfrm>
            <a:off x="731520" y="598932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8597A8"/>
                </a:solidFill>
                <a:latin typeface="Consolas"/>
                <a:ea typeface="Microsoft JhengHei"/>
              </a:rPr>
              <a:t>github.com/MarkJiang-maji/kjob  ·  branch: cgu-public</a:t>
            </a:r>
          </a:p>
        </p:txBody>
      </p:sp>
      <p:sp>
        <p:nvSpPr>
          <p:cNvPr id="6" name="hero-code-bg"/>
          <p:cNvSpPr/>
          <p:nvPr/>
        </p:nvSpPr>
        <p:spPr>
          <a:xfrm>
            <a:off x="7040880" y="1554480"/>
            <a:ext cx="4480560" cy="3017520"/>
          </a:xfrm>
          <a:prstGeom prst="roundRect">
            <a:avLst>
              <a:gd name="adj" fmla="val 4000"/>
            </a:avLst>
          </a:prstGeom>
          <a:solidFill>
            <a:srgbClr val="0E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ro-code"/>
          <p:cNvSpPr txBox="1"/>
          <p:nvPr/>
        </p:nvSpPr>
        <p:spPr>
          <a:xfrm>
            <a:off x="7269480" y="1719072"/>
            <a:ext cx="4023360" cy="274320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ksinfo</a:t>
            </a:r>
          </a:p>
          <a:p>
            <a:pPr algn="l"/>
            <a:r>
              <a:rPr sz="15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ksub -G 1 -g v100 train.py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Submitted job train-3f2a9c</a:t>
            </a:r>
          </a:p>
          <a:p>
            <a:pPr algn="l"/>
            <a:r>
              <a:rPr sz="15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klogs train-3f2a9c -f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epoch 1/50  loss 2.31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epoch 2/50  loss 1.87</a:t>
            </a:r>
          </a:p>
          <a:p>
            <a:pPr algn="l"/>
            <a:r>
              <a:rPr sz="1500" b="0" i="0">
                <a:solidFill>
                  <a:srgbClr val="8597A8"/>
                </a:solidFill>
                <a:latin typeface="Consolas"/>
                <a:ea typeface="Microsoft JhengHei"/>
              </a:rPr>
              <a:t>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B2733"/>
                </a:solidFill>
                <a:latin typeface="Calibri"/>
                <a:ea typeface="Microsoft JhengHei"/>
              </a:rPr>
              <a:t>kjob 做了什麼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56677A"/>
                </a:solidFill>
                <a:latin typeface="Calibri"/>
                <a:ea typeface="Microsoft JhengHei"/>
              </a:rPr>
              <a:t>把 Notebook 裡的程式交給叢集執行，環境完全一樣</a:t>
            </a:r>
          </a:p>
        </p:txBody>
      </p:sp>
      <p:sp>
        <p:nvSpPr>
          <p:cNvPr id="4" name="flow-0"/>
          <p:cNvSpPr/>
          <p:nvPr/>
        </p:nvSpPr>
        <p:spPr>
          <a:xfrm>
            <a:off x="548640" y="1828800"/>
            <a:ext cx="2423160" cy="2011680"/>
          </a:xfrm>
          <a:prstGeom prst="roundRect">
            <a:avLst>
              <a:gd name="adj" fmla="val 6000"/>
            </a:avLst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dge-1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rgbClr val="23B2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Microsoft JhengHei"/>
              </a:rPr>
              <a:t>1</a:t>
            </a:r>
          </a:p>
        </p:txBody>
      </p:sp>
      <p:sp>
        <p:nvSpPr>
          <p:cNvPr id="6" name="flow-head-0"/>
          <p:cNvSpPr txBox="1"/>
          <p:nvPr/>
        </p:nvSpPr>
        <p:spPr>
          <a:xfrm>
            <a:off x="731520" y="2651760"/>
            <a:ext cx="2103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B2733"/>
                </a:solidFill>
                <a:latin typeface="Calibri"/>
                <a:ea typeface="Microsoft JhengHei"/>
              </a:rPr>
              <a:t>Notebook 寫程式</a:t>
            </a:r>
          </a:p>
        </p:txBody>
      </p:sp>
      <p:sp>
        <p:nvSpPr>
          <p:cNvPr id="7" name="flow-sub-0"/>
          <p:cNvSpPr txBox="1"/>
          <p:nvPr/>
        </p:nvSpPr>
        <p:spPr>
          <a:xfrm>
            <a:off x="731520" y="3154680"/>
            <a:ext cx="2103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6677A"/>
                </a:solidFill>
                <a:latin typeface="Consolas"/>
                <a:ea typeface="Microsoft JhengHei"/>
              </a:rPr>
              <a:t>ksub train.py</a:t>
            </a:r>
          </a:p>
        </p:txBody>
      </p:sp>
      <p:sp>
        <p:nvSpPr>
          <p:cNvPr id="8" name="arrow-0"/>
          <p:cNvSpPr/>
          <p:nvPr/>
        </p:nvSpPr>
        <p:spPr>
          <a:xfrm>
            <a:off x="3035808" y="2697480"/>
            <a:ext cx="301752" cy="320040"/>
          </a:xfrm>
          <a:prstGeom prst="rightArrow">
            <a:avLst/>
          </a:prstGeom>
          <a:solidFill>
            <a:srgbClr val="23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low-1"/>
          <p:cNvSpPr/>
          <p:nvPr/>
        </p:nvSpPr>
        <p:spPr>
          <a:xfrm>
            <a:off x="3383280" y="1828800"/>
            <a:ext cx="2423160" cy="201168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adge-2"/>
          <p:cNvSpPr/>
          <p:nvPr/>
        </p:nvSpPr>
        <p:spPr>
          <a:xfrm>
            <a:off x="3566160" y="2011680"/>
            <a:ext cx="502920" cy="502920"/>
          </a:xfrm>
          <a:prstGeom prst="ellipse">
            <a:avLst/>
          </a:prstGeom>
          <a:solidFill>
            <a:srgbClr val="23B2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Microsoft JhengHei"/>
              </a:rPr>
              <a:t>2</a:t>
            </a:r>
          </a:p>
        </p:txBody>
      </p:sp>
      <p:sp>
        <p:nvSpPr>
          <p:cNvPr id="11" name="flow-head-1"/>
          <p:cNvSpPr txBox="1"/>
          <p:nvPr/>
        </p:nvSpPr>
        <p:spPr>
          <a:xfrm>
            <a:off x="3566160" y="2651760"/>
            <a:ext cx="2103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B2733"/>
                </a:solidFill>
                <a:latin typeface="Calibri"/>
                <a:ea typeface="Microsoft JhengHei"/>
              </a:rPr>
              <a:t>叢集排程</a:t>
            </a:r>
          </a:p>
        </p:txBody>
      </p:sp>
      <p:sp>
        <p:nvSpPr>
          <p:cNvPr id="12" name="flow-sub-1"/>
          <p:cNvSpPr txBox="1"/>
          <p:nvPr/>
        </p:nvSpPr>
        <p:spPr>
          <a:xfrm>
            <a:off x="3566160" y="3154680"/>
            <a:ext cx="2103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6677A"/>
                </a:solidFill>
                <a:latin typeface="Calibri"/>
                <a:ea typeface="Microsoft JhengHei"/>
              </a:rPr>
              <a:t>等到指定的 GPU 有空</a:t>
            </a:r>
          </a:p>
        </p:txBody>
      </p:sp>
      <p:sp>
        <p:nvSpPr>
          <p:cNvPr id="13" name="arrow-1"/>
          <p:cNvSpPr/>
          <p:nvPr/>
        </p:nvSpPr>
        <p:spPr>
          <a:xfrm>
            <a:off x="5870448" y="2697480"/>
            <a:ext cx="301752" cy="320040"/>
          </a:xfrm>
          <a:prstGeom prst="rightArrow">
            <a:avLst/>
          </a:prstGeom>
          <a:solidFill>
            <a:srgbClr val="23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low-2"/>
          <p:cNvSpPr/>
          <p:nvPr/>
        </p:nvSpPr>
        <p:spPr>
          <a:xfrm>
            <a:off x="6217920" y="1828800"/>
            <a:ext cx="2423160" cy="2011680"/>
          </a:xfrm>
          <a:prstGeom prst="roundRect">
            <a:avLst>
              <a:gd name="adj" fmla="val 6000"/>
            </a:avLst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dge-3"/>
          <p:cNvSpPr/>
          <p:nvPr/>
        </p:nvSpPr>
        <p:spPr>
          <a:xfrm>
            <a:off x="6400800" y="2011680"/>
            <a:ext cx="502920" cy="502920"/>
          </a:xfrm>
          <a:prstGeom prst="ellipse">
            <a:avLst/>
          </a:prstGeom>
          <a:solidFill>
            <a:srgbClr val="23B2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Microsoft JhengHei"/>
              </a:rPr>
              <a:t>3</a:t>
            </a:r>
          </a:p>
        </p:txBody>
      </p:sp>
      <p:sp>
        <p:nvSpPr>
          <p:cNvPr id="16" name="flow-head-2"/>
          <p:cNvSpPr txBox="1"/>
          <p:nvPr/>
        </p:nvSpPr>
        <p:spPr>
          <a:xfrm>
            <a:off x="6400800" y="2651760"/>
            <a:ext cx="2103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B2733"/>
                </a:solidFill>
                <a:latin typeface="Calibri"/>
                <a:ea typeface="Microsoft JhengHei"/>
              </a:rPr>
              <a:t>GPU 節點執行</a:t>
            </a:r>
          </a:p>
        </p:txBody>
      </p:sp>
      <p:sp>
        <p:nvSpPr>
          <p:cNvPr id="17" name="flow-sub-2"/>
          <p:cNvSpPr txBox="1"/>
          <p:nvPr/>
        </p:nvSpPr>
        <p:spPr>
          <a:xfrm>
            <a:off x="6400800" y="3154680"/>
            <a:ext cx="2103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6677A"/>
                </a:solidFill>
                <a:latin typeface="Calibri"/>
                <a:ea typeface="Microsoft JhengHei"/>
              </a:rPr>
              <a:t>同 image、同路徑、同磁碟</a:t>
            </a:r>
          </a:p>
        </p:txBody>
      </p:sp>
      <p:sp>
        <p:nvSpPr>
          <p:cNvPr id="18" name="arrow-2"/>
          <p:cNvSpPr/>
          <p:nvPr/>
        </p:nvSpPr>
        <p:spPr>
          <a:xfrm>
            <a:off x="8705088" y="2697480"/>
            <a:ext cx="301752" cy="320040"/>
          </a:xfrm>
          <a:prstGeom prst="rightArrow">
            <a:avLst/>
          </a:prstGeom>
          <a:solidFill>
            <a:srgbClr val="23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low-3"/>
          <p:cNvSpPr/>
          <p:nvPr/>
        </p:nvSpPr>
        <p:spPr>
          <a:xfrm>
            <a:off x="9052560" y="1828800"/>
            <a:ext cx="2423160" cy="201168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dge-4"/>
          <p:cNvSpPr/>
          <p:nvPr/>
        </p:nvSpPr>
        <p:spPr>
          <a:xfrm>
            <a:off x="9235440" y="2011680"/>
            <a:ext cx="502920" cy="502920"/>
          </a:xfrm>
          <a:prstGeom prst="ellipse">
            <a:avLst/>
          </a:prstGeom>
          <a:solidFill>
            <a:srgbClr val="23B2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Microsoft JhengHei"/>
              </a:rPr>
              <a:t>4</a:t>
            </a:r>
          </a:p>
        </p:txBody>
      </p:sp>
      <p:sp>
        <p:nvSpPr>
          <p:cNvPr id="21" name="flow-head-3"/>
          <p:cNvSpPr txBox="1"/>
          <p:nvPr/>
        </p:nvSpPr>
        <p:spPr>
          <a:xfrm>
            <a:off x="9235440" y="2651760"/>
            <a:ext cx="2103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B2733"/>
                </a:solidFill>
                <a:latin typeface="Calibri"/>
                <a:ea typeface="Microsoft JhengHei"/>
              </a:rPr>
              <a:t>結果回到 Notebook</a:t>
            </a:r>
          </a:p>
        </p:txBody>
      </p:sp>
      <p:sp>
        <p:nvSpPr>
          <p:cNvPr id="22" name="flow-sub-3"/>
          <p:cNvSpPr txBox="1"/>
          <p:nvPr/>
        </p:nvSpPr>
        <p:spPr>
          <a:xfrm>
            <a:off x="9235440" y="3154680"/>
            <a:ext cx="2103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6677A"/>
                </a:solidFill>
                <a:latin typeface="Calibri"/>
                <a:ea typeface="Microsoft JhengHei"/>
              </a:rPr>
              <a:t>~/kjob-logs/ 與你的輸出檔</a:t>
            </a:r>
          </a:p>
        </p:txBody>
      </p:sp>
      <p:sp>
        <p:nvSpPr>
          <p:cNvPr id="23" name="card-Notebook 不"/>
          <p:cNvSpPr/>
          <p:nvPr/>
        </p:nvSpPr>
        <p:spPr>
          <a:xfrm>
            <a:off x="548640" y="4343400"/>
            <a:ext cx="3520440" cy="150876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-head-Notebook 不"/>
          <p:cNvSpPr txBox="1"/>
          <p:nvPr/>
        </p:nvSpPr>
        <p:spPr>
          <a:xfrm>
            <a:off x="731520" y="4480560"/>
            <a:ext cx="3154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B2733"/>
                </a:solidFill>
                <a:latin typeface="Calibri"/>
                <a:ea typeface="Microsoft JhengHei"/>
              </a:rPr>
              <a:t>Notebook 不必占 GPU</a:t>
            </a:r>
          </a:p>
        </p:txBody>
      </p:sp>
      <p:sp>
        <p:nvSpPr>
          <p:cNvPr id="25" name="card-body-Notebook 不"/>
          <p:cNvSpPr txBox="1"/>
          <p:nvPr/>
        </p:nvSpPr>
        <p:spPr>
          <a:xfrm>
            <a:off x="731520" y="4910328"/>
            <a:ext cx="3154680" cy="82295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訓練交給工作，跑完就釋放 GPU 給別人</a:t>
            </a:r>
          </a:p>
        </p:txBody>
      </p:sp>
      <p:sp>
        <p:nvSpPr>
          <p:cNvPr id="26" name="card-路徑不用改"/>
          <p:cNvSpPr/>
          <p:nvPr/>
        </p:nvSpPr>
        <p:spPr>
          <a:xfrm>
            <a:off x="4297679" y="4343400"/>
            <a:ext cx="3520440" cy="150876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-head-路徑不用改"/>
          <p:cNvSpPr txBox="1"/>
          <p:nvPr/>
        </p:nvSpPr>
        <p:spPr>
          <a:xfrm>
            <a:off x="4480559" y="4480560"/>
            <a:ext cx="3154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B2733"/>
                </a:solidFill>
                <a:latin typeface="Calibri"/>
                <a:ea typeface="Microsoft JhengHei"/>
              </a:rPr>
              <a:t>路徑不用改</a:t>
            </a:r>
          </a:p>
        </p:txBody>
      </p:sp>
      <p:sp>
        <p:nvSpPr>
          <p:cNvPr id="28" name="card-body-路徑不用改"/>
          <p:cNvSpPr txBox="1"/>
          <p:nvPr/>
        </p:nvSpPr>
        <p:spPr>
          <a:xfrm>
            <a:off x="4480559" y="4910328"/>
            <a:ext cx="3154680" cy="82295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/home/jovyan、群組資料夾在工作裡位置相同</a:t>
            </a:r>
          </a:p>
        </p:txBody>
      </p:sp>
      <p:sp>
        <p:nvSpPr>
          <p:cNvPr id="29" name="card-關掉瀏覽器也沒關係"/>
          <p:cNvSpPr/>
          <p:nvPr/>
        </p:nvSpPr>
        <p:spPr>
          <a:xfrm>
            <a:off x="8046719" y="4343400"/>
            <a:ext cx="3520440" cy="150876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-head-關掉瀏覽器也沒關係"/>
          <p:cNvSpPr txBox="1"/>
          <p:nvPr/>
        </p:nvSpPr>
        <p:spPr>
          <a:xfrm>
            <a:off x="8229599" y="4480560"/>
            <a:ext cx="3154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B2733"/>
                </a:solidFill>
                <a:latin typeface="Calibri"/>
                <a:ea typeface="Microsoft JhengHei"/>
              </a:rPr>
              <a:t>關掉瀏覽器也沒關係</a:t>
            </a:r>
          </a:p>
        </p:txBody>
      </p:sp>
      <p:sp>
        <p:nvSpPr>
          <p:cNvPr id="31" name="card-body-關掉瀏覽器也沒關係"/>
          <p:cNvSpPr txBox="1"/>
          <p:nvPr/>
        </p:nvSpPr>
        <p:spPr>
          <a:xfrm>
            <a:off x="8229599" y="4910328"/>
            <a:ext cx="3154680" cy="82295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輸出即時存檔，隨時用 klogs 查看</a:t>
            </a:r>
          </a:p>
        </p:txBody>
      </p:sp>
      <p:sp>
        <p:nvSpPr>
          <p:cNvPr id="32" name="pageno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56677A"/>
                </a:solidFill>
                <a:latin typeface="Calibri"/>
                <a:ea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B2733"/>
                </a:solidFill>
                <a:latin typeface="Calibri"/>
                <a:ea typeface="Microsoft JhengHei"/>
              </a:rPr>
              <a:t>會用國網，就會用 kjob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56677A"/>
                </a:solidFill>
                <a:latin typeface="Calibri"/>
                <a:ea typeface="Microsoft JhengHei"/>
              </a:rPr>
              <a:t>指令名稱與用法對照</a:t>
            </a:r>
          </a:p>
        </p:txBody>
      </p:sp>
      <p:graphicFrame>
        <p:nvGraphicFramePr>
          <p:cNvPr id="4" name="map"/>
          <p:cNvGraphicFramePr>
            <a:graphicFrameLocks noGrp="1"/>
          </p:cNvGraphicFramePr>
          <p:nvPr/>
        </p:nvGraphicFramePr>
        <p:xfrm>
          <a:off x="548640" y="1600200"/>
          <a:ext cx="11064240" cy="429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080"/>
                <a:gridCol w="2743200"/>
                <a:gridCol w="539496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國網 / Slurm</a:t>
                      </a:r>
                    </a:p>
                  </a:txBody>
                  <a:tcPr marL="91440" marR="91440" marT="36576" marB="36576" anchor="ctr">
                    <a:solidFill>
                      <a:srgbClr val="1E2E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kjob</a:t>
                      </a:r>
                    </a:p>
                  </a:txBody>
                  <a:tcPr marL="91440" marR="91440" marT="36576" marB="36576" anchor="ctr">
                    <a:solidFill>
                      <a:srgbClr val="1E2E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用途</a:t>
                      </a:r>
                    </a:p>
                  </a:txBody>
                  <a:tcPr marL="91440" marR="91440" marT="36576" marB="36576" anchor="ctr">
                    <a:solidFill>
                      <a:srgbClr val="1E2E3D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sbatch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ksub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提交後立即返回，工作在背景執行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srun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ksrun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提交並即時看輸出，Ctrl-C 取消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squeue -u $USER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kqueue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自己的工作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squeue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kqueue -A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全叢集的 GPU 工作與排隊原因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sinfo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ksinfo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每種 GPU：總數、使用中、空閒、排隊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scontrol show job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kshow NAME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單一工作的詳細資訊與事件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sacct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kacct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提交紀錄、結束代碼、執行時間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scancel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kcancel NAME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取消工作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#SBATCH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#SBATCH / #KJOB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腳本開頭寫資源設定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ageno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56677A"/>
                </a:solidFill>
                <a:latin typeface="Calibri"/>
                <a:ea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B2733"/>
                </a:solidFill>
                <a:latin typeface="Calibri"/>
                <a:ea typeface="Microsoft JhengHei"/>
              </a:rPr>
              <a:t>安裝：在 Notebook 的 Terminal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56677A"/>
                </a:solidFill>
                <a:latin typeface="Calibri"/>
                <a:ea typeface="Microsoft JhengHei"/>
              </a:rPr>
              <a:t>JupyterLab：File → New → Terminal；遠端桌面：開終端機</a:t>
            </a:r>
          </a:p>
        </p:txBody>
      </p:sp>
      <p:sp>
        <p:nvSpPr>
          <p:cNvPr id="4" name="install-code-bg"/>
          <p:cNvSpPr/>
          <p:nvPr/>
        </p:nvSpPr>
        <p:spPr>
          <a:xfrm>
            <a:off x="548640" y="1645920"/>
            <a:ext cx="11064240" cy="2240280"/>
          </a:xfrm>
          <a:prstGeom prst="roundRect">
            <a:avLst>
              <a:gd name="adj" fmla="val 4000"/>
            </a:avLst>
          </a:prstGeom>
          <a:solidFill>
            <a:srgbClr val="0E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nstall-code"/>
          <p:cNvSpPr txBox="1"/>
          <p:nvPr/>
        </p:nvSpPr>
        <p:spPr>
          <a:xfrm>
            <a:off x="777240" y="1810512"/>
            <a:ext cx="10607040" cy="196596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python3 -m pip install --user --upgrade \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      https://github.com/MarkJiang-maji/kjob/archive/refs/heads/cgu-public.tar.gz</a:t>
            </a:r>
          </a:p>
          <a:p>
            <a:pPr algn="l"/>
            <a:r>
              <a:rPr sz="15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export PATH="$HOME/.local/bin:$PATH"</a:t>
            </a:r>
          </a:p>
          <a:p>
            <a:pPr algn="l"/>
            <a:r>
              <a:rPr sz="15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echo 'export PATH="$HOME/.local/bin:$PATH"' &gt;&gt; ~/.bashrc</a:t>
            </a:r>
            <a:r>
              <a:rPr sz="1500" b="0" i="0">
                <a:solidFill>
                  <a:srgbClr val="8597A8"/>
                </a:solidFill>
                <a:latin typeface="Consolas"/>
                <a:ea typeface="Microsoft JhengHei"/>
              </a:rPr>
              <a:t>  # 下次開 Terminal 也有效</a:t>
            </a:r>
          </a:p>
          <a:p>
            <a:pPr algn="l"/>
            <a:r>
              <a:rPr sz="15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kinfo                                                  </a:t>
            </a:r>
            <a:r>
              <a:rPr sz="1500" b="0" i="0">
                <a:solidFill>
                  <a:srgbClr val="8597A8"/>
                </a:solidFill>
                <a:latin typeface="Consolas"/>
                <a:ea typeface="Microsoft JhengHei"/>
              </a:rPr>
              <a:t>  # 確認安裝成功</a:t>
            </a:r>
          </a:p>
        </p:txBody>
      </p:sp>
      <p:sp>
        <p:nvSpPr>
          <p:cNvPr id="6" name="card-Python 3.8"/>
          <p:cNvSpPr/>
          <p:nvPr/>
        </p:nvSpPr>
        <p:spPr>
          <a:xfrm>
            <a:off x="548640" y="4206240"/>
            <a:ext cx="3520440" cy="164592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-head-Python 3.8"/>
          <p:cNvSpPr txBox="1"/>
          <p:nvPr/>
        </p:nvSpPr>
        <p:spPr>
          <a:xfrm>
            <a:off x="731520" y="4343400"/>
            <a:ext cx="3154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B2733"/>
                </a:solidFill>
                <a:latin typeface="Calibri"/>
                <a:ea typeface="Microsoft JhengHei"/>
              </a:rPr>
              <a:t>Python 3.8 以上</a:t>
            </a:r>
          </a:p>
        </p:txBody>
      </p:sp>
      <p:sp>
        <p:nvSpPr>
          <p:cNvPr id="8" name="card-body-Python 3.8"/>
          <p:cNvSpPr txBox="1"/>
          <p:nvPr/>
        </p:nvSpPr>
        <p:spPr>
          <a:xfrm>
            <a:off x="731520" y="4773168"/>
            <a:ext cx="3154680" cy="960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pip 會自動安裝 kubernetes 套件，不會動到 PyTorch</a:t>
            </a:r>
          </a:p>
        </p:txBody>
      </p:sp>
      <p:sp>
        <p:nvSpPr>
          <p:cNvPr id="9" name="card-裝在 ~/.loca"/>
          <p:cNvSpPr/>
          <p:nvPr/>
        </p:nvSpPr>
        <p:spPr>
          <a:xfrm>
            <a:off x="4297679" y="4206240"/>
            <a:ext cx="3520440" cy="164592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-head-裝在 ~/.loca"/>
          <p:cNvSpPr txBox="1"/>
          <p:nvPr/>
        </p:nvSpPr>
        <p:spPr>
          <a:xfrm>
            <a:off x="4480559" y="4343400"/>
            <a:ext cx="3154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B2733"/>
                </a:solidFill>
                <a:latin typeface="Calibri"/>
                <a:ea typeface="Microsoft JhengHei"/>
              </a:rPr>
              <a:t>裝在 ~/.local</a:t>
            </a:r>
          </a:p>
        </p:txBody>
      </p:sp>
      <p:sp>
        <p:nvSpPr>
          <p:cNvPr id="11" name="card-body-裝在 ~/.loca"/>
          <p:cNvSpPr txBox="1"/>
          <p:nvPr/>
        </p:nvSpPr>
        <p:spPr>
          <a:xfrm>
            <a:off x="4480559" y="4773168"/>
            <a:ext cx="3154680" cy="960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在你的工作磁碟上，Notebook 重開仍然在</a:t>
            </a:r>
          </a:p>
        </p:txBody>
      </p:sp>
      <p:sp>
        <p:nvSpPr>
          <p:cNvPr id="12" name="card-更新與虛擬環境"/>
          <p:cNvSpPr/>
          <p:nvPr/>
        </p:nvSpPr>
        <p:spPr>
          <a:xfrm>
            <a:off x="8046719" y="4206240"/>
            <a:ext cx="3520440" cy="164592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-head-更新與虛擬環境"/>
          <p:cNvSpPr txBox="1"/>
          <p:nvPr/>
        </p:nvSpPr>
        <p:spPr>
          <a:xfrm>
            <a:off x="8229599" y="4343400"/>
            <a:ext cx="3154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B2733"/>
                </a:solidFill>
                <a:latin typeface="Calibri"/>
                <a:ea typeface="Microsoft JhengHei"/>
              </a:rPr>
              <a:t>更新與虛擬環境</a:t>
            </a:r>
          </a:p>
        </p:txBody>
      </p:sp>
      <p:sp>
        <p:nvSpPr>
          <p:cNvPr id="14" name="card-body-更新與虛擬環境"/>
          <p:cNvSpPr txBox="1"/>
          <p:nvPr/>
        </p:nvSpPr>
        <p:spPr>
          <a:xfrm>
            <a:off x="8229599" y="4773168"/>
            <a:ext cx="3154680" cy="960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更新：重跑第一行。在虛擬環境內就拿掉 --user</a:t>
            </a:r>
          </a:p>
        </p:txBody>
      </p:sp>
      <p:sp>
        <p:nvSpPr>
          <p:cNvPr id="15" name="pageno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56677A"/>
                </a:solidFill>
                <a:latin typeface="Calibri"/>
                <a:ea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B2733"/>
                </a:solidFill>
                <a:latin typeface="Calibri"/>
                <a:ea typeface="Microsoft JhengHei"/>
              </a:rPr>
              <a:t>提交前：先看環境與空的 GPU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56677A"/>
                </a:solidFill>
                <a:latin typeface="Calibri"/>
                <a:ea typeface="Microsoft JhengHei"/>
              </a:rPr>
              <a:t>kinfo 看自己，ksinfo 看叢集</a:t>
            </a:r>
          </a:p>
        </p:txBody>
      </p:sp>
      <p:sp>
        <p:nvSpPr>
          <p:cNvPr id="4" name="env-code-bg"/>
          <p:cNvSpPr/>
          <p:nvPr/>
        </p:nvSpPr>
        <p:spPr>
          <a:xfrm>
            <a:off x="548640" y="1600200"/>
            <a:ext cx="11064240" cy="3246120"/>
          </a:xfrm>
          <a:prstGeom prst="roundRect">
            <a:avLst>
              <a:gd name="adj" fmla="val 4000"/>
            </a:avLst>
          </a:prstGeom>
          <a:solidFill>
            <a:srgbClr val="0E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nv-code"/>
          <p:cNvSpPr txBox="1"/>
          <p:nvPr/>
        </p:nvSpPr>
        <p:spPr>
          <a:xfrm>
            <a:off x="777240" y="1764792"/>
            <a:ext cx="10607040" cy="297180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kinfo</a:t>
            </a:r>
          </a:p>
          <a:p>
            <a:pPr algn="l"/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notebook  mynb-0  (namespace m1461023)      image  cguaicadmin/newlab-newpytorch:V1.0.8</a:t>
            </a:r>
          </a:p>
          <a:p>
            <a:pPr algn="l"/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  /home/jovyan             nfs 10.100.1.35:/Public/... </a:t>
            </a:r>
            <a:r>
              <a:rPr sz="1300" b="0" i="0">
                <a:solidFill>
                  <a:srgbClr val="8597A8"/>
                </a:solidFill>
                <a:latin typeface="Consolas"/>
                <a:ea typeface="Microsoft JhengHei"/>
              </a:rPr>
              <a:t>  # 工作看得到的磁碟</a:t>
            </a:r>
          </a:p>
          <a:p>
            <a:pPr algn="l"/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  requests.nvidia.com/gpu  0 / 8                       </a:t>
            </a:r>
            <a:r>
              <a:rPr sz="1300" b="0" i="0">
                <a:solidFill>
                  <a:srgbClr val="8597A8"/>
                </a:solidFill>
                <a:latin typeface="Consolas"/>
                <a:ea typeface="Microsoft JhengHei"/>
              </a:rPr>
              <a:t>  # GPU 配額（Notebook 也算）</a:t>
            </a:r>
          </a:p>
          <a:p>
            <a:pPr algn="l"/>
            <a:r>
              <a:rPr sz="13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ksinfo</a:t>
            </a:r>
          </a:p>
          <a:p>
            <a:pPr algn="l"/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GPU_TYPE              NODES  GPUS  USED  FREE  WAITING_GPUS  GPU_MEM  NOTE</a:t>
            </a:r>
          </a:p>
          <a:p>
            <a:pPr algn="l"/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NVIDIA-RTX-A5000      1      10    10    0     -             24GB</a:t>
            </a:r>
          </a:p>
          <a:p>
            <a:pPr algn="l"/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Tesla-V100-SXM2-16GB  4      32    2     30    8 (1 jobs)    16GB</a:t>
            </a:r>
          </a:p>
          <a:p>
            <a:pPr algn="l"/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rtxpro6000            1      8     4     4     -             -        restricted</a:t>
            </a:r>
          </a:p>
        </p:txBody>
      </p:sp>
      <p:sp>
        <p:nvSpPr>
          <p:cNvPr id="6" name="card-FREE"/>
          <p:cNvSpPr/>
          <p:nvPr/>
        </p:nvSpPr>
        <p:spPr>
          <a:xfrm>
            <a:off x="548640" y="512064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-head-FREE"/>
          <p:cNvSpPr txBox="1"/>
          <p:nvPr/>
        </p:nvSpPr>
        <p:spPr>
          <a:xfrm>
            <a:off x="731520" y="5257800"/>
            <a:ext cx="3154680" cy="41148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FREE</a:t>
            </a:r>
          </a:p>
        </p:txBody>
      </p:sp>
      <p:sp>
        <p:nvSpPr>
          <p:cNvPr id="8" name="card-body-FREE"/>
          <p:cNvSpPr txBox="1"/>
          <p:nvPr/>
        </p:nvSpPr>
        <p:spPr>
          <a:xfrm>
            <a:off x="731520" y="5687568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現在可用的 GPU 數，選有空位的型號</a:t>
            </a:r>
          </a:p>
        </p:txBody>
      </p:sp>
      <p:sp>
        <p:nvSpPr>
          <p:cNvPr id="9" name="card-WAITING_GP"/>
          <p:cNvSpPr/>
          <p:nvPr/>
        </p:nvSpPr>
        <p:spPr>
          <a:xfrm>
            <a:off x="4297679" y="512064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-head-WAITING_GP"/>
          <p:cNvSpPr txBox="1"/>
          <p:nvPr/>
        </p:nvSpPr>
        <p:spPr>
          <a:xfrm>
            <a:off x="4480559" y="5257800"/>
            <a:ext cx="3154680" cy="41148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WAITING_GPUS</a:t>
            </a:r>
          </a:p>
        </p:txBody>
      </p:sp>
      <p:sp>
        <p:nvSpPr>
          <p:cNvPr id="11" name="card-body-WAITING_GP"/>
          <p:cNvSpPr txBox="1"/>
          <p:nvPr/>
        </p:nvSpPr>
        <p:spPr>
          <a:xfrm>
            <a:off x="4480559" y="5687568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正在排隊等這種 GPU 的需求</a:t>
            </a:r>
          </a:p>
        </p:txBody>
      </p:sp>
      <p:sp>
        <p:nvSpPr>
          <p:cNvPr id="12" name="card-restricted"/>
          <p:cNvSpPr/>
          <p:nvPr/>
        </p:nvSpPr>
        <p:spPr>
          <a:xfrm>
            <a:off x="8046719" y="512064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-head-restricted"/>
          <p:cNvSpPr txBox="1"/>
          <p:nvPr/>
        </p:nvSpPr>
        <p:spPr>
          <a:xfrm>
            <a:off x="8229599" y="5257800"/>
            <a:ext cx="3154680" cy="41148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restricted</a:t>
            </a:r>
          </a:p>
        </p:txBody>
      </p:sp>
      <p:sp>
        <p:nvSpPr>
          <p:cNvPr id="14" name="card-body-restricted"/>
          <p:cNvSpPr txBox="1"/>
          <p:nvPr/>
        </p:nvSpPr>
        <p:spPr>
          <a:xfrm>
            <a:off x="8229599" y="5687568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需管理員開通；沒開通會一直排隊</a:t>
            </a:r>
          </a:p>
        </p:txBody>
      </p:sp>
      <p:sp>
        <p:nvSpPr>
          <p:cNvPr id="15" name="pageno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56677A"/>
                </a:solidFill>
                <a:latin typeface="Calibri"/>
                <a:ea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B2733"/>
                </a:solidFill>
                <a:latin typeface="Calibri"/>
                <a:ea typeface="Microsoft JhengHei"/>
              </a:rPr>
              <a:t>第一個 GPU 工作：ksrun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56677A"/>
                </a:solidFill>
                <a:latin typeface="Calibri"/>
                <a:ea typeface="Microsoft JhengHei"/>
              </a:rPr>
              <a:t>提交、即時看輸出、結束後自動清理</a:t>
            </a:r>
          </a:p>
        </p:txBody>
      </p:sp>
      <p:sp>
        <p:nvSpPr>
          <p:cNvPr id="4" name="ksrun-code-bg"/>
          <p:cNvSpPr/>
          <p:nvPr/>
        </p:nvSpPr>
        <p:spPr>
          <a:xfrm>
            <a:off x="548640" y="1600200"/>
            <a:ext cx="7040880" cy="4206240"/>
          </a:xfrm>
          <a:prstGeom prst="roundRect">
            <a:avLst>
              <a:gd name="adj" fmla="val 4000"/>
            </a:avLst>
          </a:prstGeom>
          <a:solidFill>
            <a:srgbClr val="0E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ksrun-code"/>
          <p:cNvSpPr txBox="1"/>
          <p:nvPr/>
        </p:nvSpPr>
        <p:spPr>
          <a:xfrm>
            <a:off x="777240" y="1764792"/>
            <a:ext cx="6583680" cy="393192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ksrun -G 1 -g v100 -c 2 --mem 8Gi gpu_test.py</a:t>
            </a:r>
          </a:p>
          <a:p>
            <a:pPr algn="l"/>
            <a:r>
              <a:rPr sz="1500" b="0" i="0">
                <a:solidFill>
                  <a:srgbClr val="4FD69C"/>
                </a:solidFill>
                <a:latin typeface="Consolas"/>
                <a:ea typeface="Microsoft JhengHei"/>
              </a:rPr>
              <a:t>kjob: submitted gpu-test-1a2b3c</a:t>
            </a:r>
          </a:p>
          <a:p>
            <a:pPr algn="l"/>
            <a:r>
              <a:rPr sz="1500" b="0" i="0">
                <a:solidFill>
                  <a:srgbClr val="4FD69C"/>
                </a:solidFill>
                <a:latin typeface="Consolas"/>
                <a:ea typeface="Microsoft JhengHei"/>
              </a:rPr>
              <a:t>kjob: gpu-test-1a2b3c running on hs5800-1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node: hs5800-1 | GPU: Tesla V100-SXM2-16GB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step 1/5 ok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step 2/5 ok</a:t>
            </a:r>
          </a:p>
          <a:p>
            <a:pPr algn="l"/>
            <a:r>
              <a:rPr sz="1500" b="0" i="0">
                <a:solidFill>
                  <a:srgbClr val="8597A8"/>
                </a:solidFill>
                <a:latin typeface="Consolas"/>
                <a:ea typeface="Microsoft JhengHei"/>
              </a:rPr>
              <a:t>…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step 5/5 ok</a:t>
            </a:r>
          </a:p>
          <a:p>
            <a:pPr algn="l"/>
            <a:r>
              <a:rPr sz="1500" b="0" i="0">
                <a:solidFill>
                  <a:srgbClr val="4FD69C"/>
                </a:solidFill>
                <a:latin typeface="Consolas"/>
                <a:ea typeface="Microsoft JhengHei"/>
              </a:rPr>
              <a:t>kjob: gpu-test-1a2b3c Succeeded (exit code 0)</a:t>
            </a:r>
          </a:p>
        </p:txBody>
      </p:sp>
      <p:sp>
        <p:nvSpPr>
          <p:cNvPr id="6" name="opt-0"/>
          <p:cNvSpPr/>
          <p:nvPr/>
        </p:nvSpPr>
        <p:spPr>
          <a:xfrm>
            <a:off x="7863840" y="1600200"/>
            <a:ext cx="3749039" cy="91440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t-h-0"/>
          <p:cNvSpPr txBox="1"/>
          <p:nvPr/>
        </p:nvSpPr>
        <p:spPr>
          <a:xfrm>
            <a:off x="8046720" y="1691640"/>
            <a:ext cx="3474720" cy="36576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-G 1</a:t>
            </a:r>
          </a:p>
        </p:txBody>
      </p:sp>
      <p:sp>
        <p:nvSpPr>
          <p:cNvPr id="8" name="opt-b-0"/>
          <p:cNvSpPr txBox="1"/>
          <p:nvPr/>
        </p:nvSpPr>
        <p:spPr>
          <a:xfrm>
            <a:off x="8046720" y="2075688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使用 1 張 GPU</a:t>
            </a:r>
          </a:p>
        </p:txBody>
      </p:sp>
      <p:sp>
        <p:nvSpPr>
          <p:cNvPr id="9" name="opt-1"/>
          <p:cNvSpPr/>
          <p:nvPr/>
        </p:nvSpPr>
        <p:spPr>
          <a:xfrm>
            <a:off x="7863840" y="2679191"/>
            <a:ext cx="3749039" cy="91440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pt-h-1"/>
          <p:cNvSpPr txBox="1"/>
          <p:nvPr/>
        </p:nvSpPr>
        <p:spPr>
          <a:xfrm>
            <a:off x="8046720" y="2770632"/>
            <a:ext cx="3474720" cy="36576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-g v100</a:t>
            </a:r>
          </a:p>
        </p:txBody>
      </p:sp>
      <p:sp>
        <p:nvSpPr>
          <p:cNvPr id="11" name="opt-b-1"/>
          <p:cNvSpPr txBox="1"/>
          <p:nvPr/>
        </p:nvSpPr>
        <p:spPr>
          <a:xfrm>
            <a:off x="8046720" y="3154679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GPU 型號，名稱看 ksinfo</a:t>
            </a:r>
          </a:p>
        </p:txBody>
      </p:sp>
      <p:sp>
        <p:nvSpPr>
          <p:cNvPr id="12" name="opt-2"/>
          <p:cNvSpPr/>
          <p:nvPr/>
        </p:nvSpPr>
        <p:spPr>
          <a:xfrm>
            <a:off x="7863840" y="3758183"/>
            <a:ext cx="3749039" cy="91440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pt-h-2"/>
          <p:cNvSpPr txBox="1"/>
          <p:nvPr/>
        </p:nvSpPr>
        <p:spPr>
          <a:xfrm>
            <a:off x="8046720" y="3849623"/>
            <a:ext cx="3474720" cy="36576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-c 2 --mem 8Gi</a:t>
            </a:r>
          </a:p>
        </p:txBody>
      </p:sp>
      <p:sp>
        <p:nvSpPr>
          <p:cNvPr id="14" name="opt-b-2"/>
          <p:cNvSpPr txBox="1"/>
          <p:nvPr/>
        </p:nvSpPr>
        <p:spPr>
          <a:xfrm>
            <a:off x="8046720" y="4233671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CPU 核心與記憶體</a:t>
            </a:r>
          </a:p>
        </p:txBody>
      </p:sp>
      <p:sp>
        <p:nvSpPr>
          <p:cNvPr id="15" name="opt-3"/>
          <p:cNvSpPr/>
          <p:nvPr/>
        </p:nvSpPr>
        <p:spPr>
          <a:xfrm>
            <a:off x="7863840" y="4837176"/>
            <a:ext cx="3749039" cy="91440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pt-h-3"/>
          <p:cNvSpPr txBox="1"/>
          <p:nvPr/>
        </p:nvSpPr>
        <p:spPr>
          <a:xfrm>
            <a:off x="8046720" y="4928616"/>
            <a:ext cx="3474720" cy="36576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Ctrl-C</a:t>
            </a:r>
          </a:p>
        </p:txBody>
      </p:sp>
      <p:sp>
        <p:nvSpPr>
          <p:cNvPr id="17" name="opt-b-3"/>
          <p:cNvSpPr txBox="1"/>
          <p:nvPr/>
        </p:nvSpPr>
        <p:spPr>
          <a:xfrm>
            <a:off x="8046720" y="5312664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取消工作（ksrun 專屬）</a:t>
            </a:r>
          </a:p>
        </p:txBody>
      </p:sp>
      <p:sp>
        <p:nvSpPr>
          <p:cNvPr id="18" name="pageno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56677A"/>
                </a:solidFill>
                <a:latin typeface="Calibri"/>
                <a:ea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B2733"/>
                </a:solidFill>
                <a:latin typeface="Calibri"/>
                <a:ea typeface="Microsoft JhengHei"/>
              </a:rPr>
              <a:t>長時間訓練：ksub 背景提交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56677A"/>
                </a:solidFill>
                <a:latin typeface="Calibri"/>
                <a:ea typeface="Microsoft JhengHei"/>
              </a:rPr>
              <a:t>提交後就可以關掉瀏覽器</a:t>
            </a:r>
          </a:p>
        </p:txBody>
      </p:sp>
      <p:sp>
        <p:nvSpPr>
          <p:cNvPr id="4" name="ksub-code-bg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4000"/>
            </a:avLst>
          </a:prstGeom>
          <a:solidFill>
            <a:srgbClr val="0E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ksub-code"/>
          <p:cNvSpPr txBox="1"/>
          <p:nvPr/>
        </p:nvSpPr>
        <p:spPr>
          <a:xfrm>
            <a:off x="777240" y="1719072"/>
            <a:ext cx="10607040" cy="777239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400" b="0" i="0">
                <a:solidFill>
                  <a:srgbClr val="DCE6EE"/>
                </a:solidFill>
                <a:latin typeface="Consolas"/>
                <a:ea typeface="Microsoft JhengHei"/>
              </a:rPr>
              <a:t>ksub -J resnet -G 1 -g v100 -c 4 --mem 32Gi --shm 8Gi -t 12h train.py --epochs 50</a:t>
            </a:r>
          </a:p>
          <a:p>
            <a:pPr algn="l"/>
            <a:r>
              <a:rPr sz="1400" b="0" i="0">
                <a:solidFill>
                  <a:srgbClr val="DCE6EE"/>
                </a:solidFill>
                <a:latin typeface="Consolas"/>
                <a:ea typeface="Microsoft JhengHei"/>
              </a:rPr>
              <a:t>Submitted job resnet  (log: /home/jovyan/kjob-logs/resnet.log)</a:t>
            </a:r>
          </a:p>
        </p:txBody>
      </p:sp>
      <p:graphicFrame>
        <p:nvGraphicFramePr>
          <p:cNvPr id="6" name="opts-l"/>
          <p:cNvGraphicFramePr>
            <a:graphicFrameLocks noGrp="1"/>
          </p:cNvGraphicFramePr>
          <p:nvPr/>
        </p:nvGraphicFramePr>
        <p:xfrm>
          <a:off x="548640" y="2880360"/>
          <a:ext cx="539496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0"/>
                <a:gridCol w="35661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選項</a:t>
                      </a:r>
                    </a:p>
                  </a:txBody>
                  <a:tcPr marL="91440" marR="91440" marT="36576" marB="36576" anchor="ctr">
                    <a:solidFill>
                      <a:srgbClr val="1E2E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意思（預設）</a:t>
                      </a:r>
                    </a:p>
                  </a:txBody>
                  <a:tcPr marL="91440" marR="91440" marT="36576" marB="36576" anchor="ctr">
                    <a:solidFill>
                      <a:srgbClr val="1E2E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-J NAME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工作名稱（腳本名+亂碼）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-G N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GPU 數（1；0 = 只用 CPU）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-g TYPE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GPU 型號（任何一種）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-c N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CPU 核心（1）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--mem 32Gi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記憶體（2Gi）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opts-r"/>
          <p:cNvGraphicFramePr>
            <a:graphicFrameLocks noGrp="1"/>
          </p:cNvGraphicFramePr>
          <p:nvPr/>
        </p:nvGraphicFramePr>
        <p:xfrm>
          <a:off x="6217920" y="2880360"/>
          <a:ext cx="539496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1680"/>
                <a:gridCol w="33832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選項</a:t>
                      </a:r>
                    </a:p>
                  </a:txBody>
                  <a:tcPr marL="91440" marR="91440" marT="36576" marB="36576" anchor="ctr">
                    <a:solidFill>
                      <a:srgbClr val="1E2E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意思（預設）</a:t>
                      </a:r>
                    </a:p>
                  </a:txBody>
                  <a:tcPr marL="91440" marR="91440" marT="36576" marB="36576" anchor="ctr">
                    <a:solidFill>
                      <a:srgbClr val="1E2E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--shm 8Gi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/dev/shm（256Mi）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-t 12h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時間上限（無）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-w NODE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指定節點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--python PATH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指定 Python／虛擬環境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-D / -o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工作目錄／日誌目錄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ime-note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6677A"/>
                </a:solidFill>
                <a:latin typeface="Calibri"/>
                <a:ea typeface="Microsoft JhengHei"/>
              </a:rPr>
              <a:t>時間格式：30（分）、2:00:00、1-12:00:00（天-時:分:秒）、12h、2d    完整選項：docs/USER_GUIDE.md</a:t>
            </a:r>
          </a:p>
        </p:txBody>
      </p:sp>
      <p:sp>
        <p:nvSpPr>
          <p:cNvPr id="9" name="pageno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56677A"/>
                </a:solidFill>
                <a:latin typeface="Calibri"/>
                <a:ea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B2733"/>
                </a:solidFill>
                <a:latin typeface="Calibri"/>
                <a:ea typeface="Microsoft JhengHei"/>
              </a:rPr>
              <a:t>查看自己的工作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56677A"/>
                </a:solidFill>
                <a:latin typeface="Calibri"/>
                <a:ea typeface="Microsoft JhengHei"/>
              </a:rPr>
              <a:t>工作在背景跑，這些指令隨時可用</a:t>
            </a:r>
          </a:p>
        </p:txBody>
      </p:sp>
      <p:sp>
        <p:nvSpPr>
          <p:cNvPr id="4" name="badge-1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23B2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</a:rPr>
              <a:t>1</a:t>
            </a:r>
          </a:p>
        </p:txBody>
      </p:sp>
      <p:sp>
        <p:nvSpPr>
          <p:cNvPr id="5" name="mon-c-0"/>
          <p:cNvSpPr txBox="1"/>
          <p:nvPr/>
        </p:nvSpPr>
        <p:spPr>
          <a:xfrm>
            <a:off x="1188720" y="1600200"/>
            <a:ext cx="2377440" cy="548640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kqueue</a:t>
            </a:r>
          </a:p>
        </p:txBody>
      </p:sp>
      <p:sp>
        <p:nvSpPr>
          <p:cNvPr id="6" name="mon-d-0"/>
          <p:cNvSpPr txBox="1"/>
          <p:nvPr/>
        </p:nvSpPr>
        <p:spPr>
          <a:xfrm>
            <a:off x="3566160" y="1600200"/>
            <a:ext cx="3291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自己的工作：狀態、節點、GPU</a:t>
            </a:r>
          </a:p>
        </p:txBody>
      </p:sp>
      <p:sp>
        <p:nvSpPr>
          <p:cNvPr id="7" name="badge-2"/>
          <p:cNvSpPr/>
          <p:nvPr/>
        </p:nvSpPr>
        <p:spPr>
          <a:xfrm>
            <a:off x="548640" y="2395727"/>
            <a:ext cx="457200" cy="457200"/>
          </a:xfrm>
          <a:prstGeom prst="ellipse">
            <a:avLst/>
          </a:prstGeom>
          <a:solidFill>
            <a:srgbClr val="23B2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</a:rPr>
              <a:t>2</a:t>
            </a:r>
          </a:p>
        </p:txBody>
      </p:sp>
      <p:sp>
        <p:nvSpPr>
          <p:cNvPr id="8" name="mon-c-1"/>
          <p:cNvSpPr txBox="1"/>
          <p:nvPr/>
        </p:nvSpPr>
        <p:spPr>
          <a:xfrm>
            <a:off x="1188720" y="2350008"/>
            <a:ext cx="2377440" cy="548640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klogs NAME -f</a:t>
            </a:r>
          </a:p>
        </p:txBody>
      </p:sp>
      <p:sp>
        <p:nvSpPr>
          <p:cNvPr id="9" name="mon-d-1"/>
          <p:cNvSpPr txBox="1"/>
          <p:nvPr/>
        </p:nvSpPr>
        <p:spPr>
          <a:xfrm>
            <a:off x="3566160" y="2350008"/>
            <a:ext cx="3291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即時看輸出（Ctrl-C 只停止觀看）</a:t>
            </a:r>
          </a:p>
        </p:txBody>
      </p:sp>
      <p:sp>
        <p:nvSpPr>
          <p:cNvPr id="10" name="badge-3"/>
          <p:cNvSpPr/>
          <p:nvPr/>
        </p:nvSpPr>
        <p:spPr>
          <a:xfrm>
            <a:off x="548640" y="3145535"/>
            <a:ext cx="457200" cy="457200"/>
          </a:xfrm>
          <a:prstGeom prst="ellipse">
            <a:avLst/>
          </a:prstGeom>
          <a:solidFill>
            <a:srgbClr val="23B2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</a:rPr>
              <a:t>3</a:t>
            </a:r>
          </a:p>
        </p:txBody>
      </p:sp>
      <p:sp>
        <p:nvSpPr>
          <p:cNvPr id="11" name="mon-c-2"/>
          <p:cNvSpPr txBox="1"/>
          <p:nvPr/>
        </p:nvSpPr>
        <p:spPr>
          <a:xfrm>
            <a:off x="1188720" y="3099815"/>
            <a:ext cx="2377440" cy="548640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kshow NAME</a:t>
            </a:r>
          </a:p>
        </p:txBody>
      </p:sp>
      <p:sp>
        <p:nvSpPr>
          <p:cNvPr id="12" name="mon-d-2"/>
          <p:cNvSpPr txBox="1"/>
          <p:nvPr/>
        </p:nvSpPr>
        <p:spPr>
          <a:xfrm>
            <a:off x="3566160" y="3099815"/>
            <a:ext cx="3291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詳細資訊；排隊太久看這裡的原因</a:t>
            </a:r>
          </a:p>
        </p:txBody>
      </p:sp>
      <p:sp>
        <p:nvSpPr>
          <p:cNvPr id="13" name="badge-4"/>
          <p:cNvSpPr/>
          <p:nvPr/>
        </p:nvSpPr>
        <p:spPr>
          <a:xfrm>
            <a:off x="548640" y="3895344"/>
            <a:ext cx="457200" cy="457200"/>
          </a:xfrm>
          <a:prstGeom prst="ellipse">
            <a:avLst/>
          </a:prstGeom>
          <a:solidFill>
            <a:srgbClr val="23B2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</a:rPr>
              <a:t>4</a:t>
            </a:r>
          </a:p>
        </p:txBody>
      </p:sp>
      <p:sp>
        <p:nvSpPr>
          <p:cNvPr id="14" name="mon-c-3"/>
          <p:cNvSpPr txBox="1"/>
          <p:nvPr/>
        </p:nvSpPr>
        <p:spPr>
          <a:xfrm>
            <a:off x="1188720" y="3849624"/>
            <a:ext cx="2377440" cy="548640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kwait NAME</a:t>
            </a:r>
          </a:p>
        </p:txBody>
      </p:sp>
      <p:sp>
        <p:nvSpPr>
          <p:cNvPr id="15" name="mon-d-3"/>
          <p:cNvSpPr txBox="1"/>
          <p:nvPr/>
        </p:nvSpPr>
        <p:spPr>
          <a:xfrm>
            <a:off x="3566160" y="3849624"/>
            <a:ext cx="3291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等到結束，回傳程式的結束代碼</a:t>
            </a:r>
          </a:p>
        </p:txBody>
      </p:sp>
      <p:sp>
        <p:nvSpPr>
          <p:cNvPr id="16" name="badge-5"/>
          <p:cNvSpPr/>
          <p:nvPr/>
        </p:nvSpPr>
        <p:spPr>
          <a:xfrm>
            <a:off x="548640" y="4645151"/>
            <a:ext cx="457200" cy="457200"/>
          </a:xfrm>
          <a:prstGeom prst="ellipse">
            <a:avLst/>
          </a:prstGeom>
          <a:solidFill>
            <a:srgbClr val="23B2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</a:rPr>
              <a:t>5</a:t>
            </a:r>
          </a:p>
        </p:txBody>
      </p:sp>
      <p:sp>
        <p:nvSpPr>
          <p:cNvPr id="17" name="mon-c-4"/>
          <p:cNvSpPr txBox="1"/>
          <p:nvPr/>
        </p:nvSpPr>
        <p:spPr>
          <a:xfrm>
            <a:off x="1188720" y="4599431"/>
            <a:ext cx="2377440" cy="548640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kacct</a:t>
            </a:r>
          </a:p>
        </p:txBody>
      </p:sp>
      <p:sp>
        <p:nvSpPr>
          <p:cNvPr id="18" name="mon-d-4"/>
          <p:cNvSpPr txBox="1"/>
          <p:nvPr/>
        </p:nvSpPr>
        <p:spPr>
          <a:xfrm>
            <a:off x="3566160" y="4599431"/>
            <a:ext cx="3291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歷史紀錄：成功與否、跑了多久</a:t>
            </a:r>
          </a:p>
        </p:txBody>
      </p:sp>
      <p:sp>
        <p:nvSpPr>
          <p:cNvPr id="19" name="badge-6"/>
          <p:cNvSpPr/>
          <p:nvPr/>
        </p:nvSpPr>
        <p:spPr>
          <a:xfrm>
            <a:off x="548640" y="5394959"/>
            <a:ext cx="457200" cy="457200"/>
          </a:xfrm>
          <a:prstGeom prst="ellipse">
            <a:avLst/>
          </a:prstGeom>
          <a:solidFill>
            <a:srgbClr val="23B2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</a:rPr>
              <a:t>6</a:t>
            </a:r>
          </a:p>
        </p:txBody>
      </p:sp>
      <p:sp>
        <p:nvSpPr>
          <p:cNvPr id="20" name="mon-c-5"/>
          <p:cNvSpPr txBox="1"/>
          <p:nvPr/>
        </p:nvSpPr>
        <p:spPr>
          <a:xfrm>
            <a:off x="1188720" y="5349240"/>
            <a:ext cx="2377440" cy="548640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kcancel NAME</a:t>
            </a:r>
          </a:p>
        </p:txBody>
      </p:sp>
      <p:sp>
        <p:nvSpPr>
          <p:cNvPr id="21" name="mon-d-5"/>
          <p:cNvSpPr txBox="1"/>
          <p:nvPr/>
        </p:nvSpPr>
        <p:spPr>
          <a:xfrm>
            <a:off x="3566160" y="5349240"/>
            <a:ext cx="3291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取消工作（日誌會保留）</a:t>
            </a:r>
          </a:p>
        </p:txBody>
      </p:sp>
      <p:sp>
        <p:nvSpPr>
          <p:cNvPr id="22" name="mon-code-bg"/>
          <p:cNvSpPr/>
          <p:nvPr/>
        </p:nvSpPr>
        <p:spPr>
          <a:xfrm>
            <a:off x="7086600" y="1600200"/>
            <a:ext cx="4526280" cy="4343400"/>
          </a:xfrm>
          <a:prstGeom prst="roundRect">
            <a:avLst>
              <a:gd name="adj" fmla="val 4000"/>
            </a:avLst>
          </a:prstGeom>
          <a:solidFill>
            <a:srgbClr val="0E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on-code"/>
          <p:cNvSpPr txBox="1"/>
          <p:nvPr/>
        </p:nvSpPr>
        <p:spPr>
          <a:xfrm>
            <a:off x="7315200" y="1764792"/>
            <a:ext cx="4069080" cy="406908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400" b="0" i="0">
                <a:solidFill>
                  <a:srgbClr val="DCE6EE"/>
                </a:solidFill>
                <a:latin typeface="Consolas"/>
                <a:ea typeface="Microsoft JhengHei"/>
              </a:rPr>
              <a:t>kqueue</a:t>
            </a:r>
          </a:p>
          <a:p>
            <a:pPr algn="l"/>
            <a:r>
              <a:rPr sz="1400" b="0" i="0">
                <a:solidFill>
                  <a:srgbClr val="DCE6EE"/>
                </a:solidFill>
                <a:latin typeface="Consolas"/>
                <a:ea typeface="Microsoft JhengHei"/>
              </a:rPr>
              <a:t>NAME    STATE    NODE      GPU</a:t>
            </a:r>
          </a:p>
          <a:p>
            <a:pPr algn="l"/>
            <a:r>
              <a:rPr sz="1400" b="0" i="0">
                <a:solidFill>
                  <a:srgbClr val="DCE6EE"/>
                </a:solidFill>
                <a:latin typeface="Consolas"/>
                <a:ea typeface="Microsoft JhengHei"/>
              </a:rPr>
              <a:t>resnet  Running  hs5800-1  1</a:t>
            </a:r>
          </a:p>
          <a:p>
            <a:pPr algn="l"/>
            <a:r>
              <a:rPr sz="1400" b="0" i="0">
                <a:solidFill>
                  <a:srgbClr val="DCE6EE"/>
                </a:solidFill>
                <a:latin typeface="Consolas"/>
                <a:ea typeface="Microsoft JhengHei"/>
              </a:rPr>
              <a:t/>
            </a:r>
          </a:p>
          <a:p>
            <a:pPr algn="l"/>
            <a:r>
              <a:rPr sz="14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400" b="0" i="0">
                <a:solidFill>
                  <a:srgbClr val="DCE6EE"/>
                </a:solidFill>
                <a:latin typeface="Consolas"/>
                <a:ea typeface="Microsoft JhengHei"/>
              </a:rPr>
              <a:t>kacct</a:t>
            </a:r>
          </a:p>
          <a:p>
            <a:pPr algn="l"/>
            <a:r>
              <a:rPr sz="1400" b="0" i="0">
                <a:solidFill>
                  <a:srgbClr val="DCE6EE"/>
                </a:solidFill>
                <a:latin typeface="Consolas"/>
                <a:ea typeface="Microsoft JhengHei"/>
              </a:rPr>
              <a:t>NAME    GPU  STATE      EXIT</a:t>
            </a:r>
          </a:p>
          <a:p>
            <a:pPr algn="l"/>
            <a:r>
              <a:rPr sz="1400" b="0" i="0">
                <a:solidFill>
                  <a:srgbClr val="DCE6EE"/>
                </a:solidFill>
                <a:latin typeface="Consolas"/>
                <a:ea typeface="Microsoft JhengHei"/>
              </a:rPr>
              <a:t>demo1   1    COMPLETED  0</a:t>
            </a:r>
          </a:p>
          <a:p>
            <a:pPr algn="l"/>
            <a:r>
              <a:rPr sz="1400" b="0" i="0">
                <a:solidFill>
                  <a:srgbClr val="DCE6EE"/>
                </a:solidFill>
                <a:latin typeface="Consolas"/>
                <a:ea typeface="Microsoft JhengHei"/>
              </a:rPr>
              <a:t>resnet  1    RUNNING    -</a:t>
            </a:r>
          </a:p>
          <a:p>
            <a:pPr algn="l"/>
            <a:r>
              <a:rPr sz="1400" b="0" i="0">
                <a:solidFill>
                  <a:srgbClr val="DCE6EE"/>
                </a:solidFill>
                <a:latin typeface="Consolas"/>
                <a:ea typeface="Microsoft JhengHei"/>
              </a:rPr>
              <a:t>probe   1    FAILED     137</a:t>
            </a:r>
          </a:p>
        </p:txBody>
      </p:sp>
      <p:sp>
        <p:nvSpPr>
          <p:cNvPr id="24" name="pageno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56677A"/>
                </a:solidFill>
                <a:latin typeface="Calibri"/>
                <a:ea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B2733"/>
                </a:solidFill>
                <a:latin typeface="Calibri"/>
                <a:ea typeface="Microsoft JhengHei"/>
              </a:rPr>
              <a:t>整個叢集：誰在用、誰在排隊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56677A"/>
                </a:solidFill>
                <a:latin typeface="Calibri"/>
                <a:ea typeface="Microsoft JhengHei"/>
              </a:rPr>
              <a:t>例如想知道 RTX PRO 6000 現在的狀況</a:t>
            </a:r>
          </a:p>
        </p:txBody>
      </p:sp>
      <p:sp>
        <p:nvSpPr>
          <p:cNvPr id="4" name="cluster-code-bg"/>
          <p:cNvSpPr/>
          <p:nvPr/>
        </p:nvSpPr>
        <p:spPr>
          <a:xfrm>
            <a:off x="548640" y="1600200"/>
            <a:ext cx="11064240" cy="3291840"/>
          </a:xfrm>
          <a:prstGeom prst="roundRect">
            <a:avLst>
              <a:gd name="adj" fmla="val 4000"/>
            </a:avLst>
          </a:prstGeom>
          <a:solidFill>
            <a:srgbClr val="0E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uster-code"/>
          <p:cNvSpPr txBox="1"/>
          <p:nvPr/>
        </p:nvSpPr>
        <p:spPr>
          <a:xfrm>
            <a:off x="777240" y="1764792"/>
            <a:ext cx="10607040" cy="301752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ksinfo -g rtxpro6000</a:t>
            </a:r>
          </a:p>
          <a:p>
            <a:pPr algn="l"/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NODE        GPU_TYPE    GPU(used/total)  CPU(req/total)  MEM_GiB(req/total)  STATE</a:t>
            </a:r>
          </a:p>
          <a:p>
            <a:pPr algn="l"/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rtxpro6000  rtxpro6000  4/8              20.1/256        160.1/2015.4        up</a:t>
            </a:r>
          </a:p>
          <a:p>
            <a:pPr algn="l"/>
            <a:r>
              <a:rPr sz="13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kqueue -A --state pending</a:t>
            </a:r>
          </a:p>
          <a:p>
            <a:pPr algn="l"/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USER      KIND      NAME   STATE    GPU  GPU_TYPE              TIME  WAITING_FOR</a:t>
            </a:r>
          </a:p>
          <a:p>
            <a:pPr algn="l"/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d1400702  Notebook  brain  Pending  8    Tesla-V100-SXM2-16GB  2h    Insufficient nvidia.com/gpu</a:t>
            </a:r>
          </a:p>
          <a:p>
            <a:pPr algn="l"/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*m1461023 kjob      exp3   Pending  2    NVIDIA-RTX-A5000      5m    Insufficient nvidia.com/gpu</a:t>
            </a:r>
          </a:p>
          <a:p>
            <a:pPr algn="l"/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running: 0 workloads / 0 GPUs;  pending: 2 workloads / 10 GPUs   (* = your namespace)</a:t>
            </a:r>
          </a:p>
        </p:txBody>
      </p:sp>
      <p:sp>
        <p:nvSpPr>
          <p:cNvPr id="6" name="card-kqueue -A"/>
          <p:cNvSpPr/>
          <p:nvPr/>
        </p:nvSpPr>
        <p:spPr>
          <a:xfrm>
            <a:off x="548640" y="512064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-head-kqueue -A"/>
          <p:cNvSpPr txBox="1"/>
          <p:nvPr/>
        </p:nvSpPr>
        <p:spPr>
          <a:xfrm>
            <a:off x="731520" y="5257800"/>
            <a:ext cx="3154680" cy="41148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kqueue -A</a:t>
            </a:r>
          </a:p>
        </p:txBody>
      </p:sp>
      <p:sp>
        <p:nvSpPr>
          <p:cNvPr id="8" name="card-body-kqueue -A"/>
          <p:cNvSpPr txBox="1"/>
          <p:nvPr/>
        </p:nvSpPr>
        <p:spPr>
          <a:xfrm>
            <a:off x="731520" y="5687568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所有使用者的 GPU 工作，USER 是 namespace</a:t>
            </a:r>
          </a:p>
        </p:txBody>
      </p:sp>
      <p:sp>
        <p:nvSpPr>
          <p:cNvPr id="9" name="card--u / -g / "/>
          <p:cNvSpPr/>
          <p:nvPr/>
        </p:nvSpPr>
        <p:spPr>
          <a:xfrm>
            <a:off x="4297679" y="512064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-head--u / -g / "/>
          <p:cNvSpPr txBox="1"/>
          <p:nvPr/>
        </p:nvSpPr>
        <p:spPr>
          <a:xfrm>
            <a:off x="4480559" y="5257800"/>
            <a:ext cx="3154680" cy="41148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-u / -g / --state</a:t>
            </a:r>
          </a:p>
        </p:txBody>
      </p:sp>
      <p:sp>
        <p:nvSpPr>
          <p:cNvPr id="11" name="card-body--u / -g / "/>
          <p:cNvSpPr txBox="1"/>
          <p:nvPr/>
        </p:nvSpPr>
        <p:spPr>
          <a:xfrm>
            <a:off x="4480559" y="5687568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篩選使用者、GPU 型號、執行中或排隊中</a:t>
            </a:r>
          </a:p>
        </p:txBody>
      </p:sp>
      <p:sp>
        <p:nvSpPr>
          <p:cNvPr id="12" name="card-資料來源"/>
          <p:cNvSpPr/>
          <p:nvPr/>
        </p:nvSpPr>
        <p:spPr>
          <a:xfrm>
            <a:off x="8046719" y="512064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-head-資料來源"/>
          <p:cNvSpPr txBox="1"/>
          <p:nvPr/>
        </p:nvSpPr>
        <p:spPr>
          <a:xfrm>
            <a:off x="8229599" y="5257800"/>
            <a:ext cx="3154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B2733"/>
                </a:solidFill>
                <a:latin typeface="Calibri"/>
                <a:ea typeface="Microsoft JhengHei"/>
              </a:rPr>
              <a:t>資料來源</a:t>
            </a:r>
          </a:p>
        </p:txBody>
      </p:sp>
      <p:sp>
        <p:nvSpPr>
          <p:cNvPr id="14" name="card-body-資料來源"/>
          <p:cNvSpPr txBox="1"/>
          <p:nvPr/>
        </p:nvSpPr>
        <p:spPr>
          <a:xfrm>
            <a:off x="8229599" y="5687568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管理員啟用的狀態服務，每 30 秒更新</a:t>
            </a:r>
          </a:p>
        </p:txBody>
      </p:sp>
      <p:sp>
        <p:nvSpPr>
          <p:cNvPr id="15" name="pageno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56677A"/>
                </a:solidFill>
                <a:latin typeface="Calibri"/>
                <a:ea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B2733"/>
                </a:solidFill>
                <a:latin typeface="Calibri"/>
                <a:ea typeface="Microsoft JhengHei"/>
              </a:rPr>
              <a:t>交自己的程式：把設定寫在腳本裡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56677A"/>
                </a:solidFill>
                <a:latin typeface="Calibri"/>
                <a:ea typeface="Microsoft JhengHei"/>
              </a:rPr>
              <a:t>國網的 #SBATCH 可以直接用，命令列選項優先</a:t>
            </a:r>
          </a:p>
        </p:txBody>
      </p:sp>
      <p:sp>
        <p:nvSpPr>
          <p:cNvPr id="4" name="script-code-bg"/>
          <p:cNvSpPr/>
          <p:nvPr/>
        </p:nvSpPr>
        <p:spPr>
          <a:xfrm>
            <a:off x="548640" y="1600200"/>
            <a:ext cx="6309360" cy="4343400"/>
          </a:xfrm>
          <a:prstGeom prst="roundRect">
            <a:avLst>
              <a:gd name="adj" fmla="val 4000"/>
            </a:avLst>
          </a:prstGeom>
          <a:solidFill>
            <a:srgbClr val="0E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cript-code"/>
          <p:cNvSpPr txBox="1"/>
          <p:nvPr/>
        </p:nvSpPr>
        <p:spPr>
          <a:xfrm>
            <a:off x="777240" y="1764792"/>
            <a:ext cx="5852160" cy="406908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#!/bin/bash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#SBATCH -J resnet50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#SBATCH --gres=gpu:v100:2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#SBATCH -c 8 --mem=64G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#SBATCH -t 1-00:00:00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#KJOB --shm 16Gi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set -e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cd /home/jovyan/project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source /home/jovyan/venv/bin/activate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torchrun --standalone \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  --nproc_per_node=2 train.py</a:t>
            </a:r>
          </a:p>
        </p:txBody>
      </p:sp>
      <p:sp>
        <p:nvSpPr>
          <p:cNvPr id="6" name="script-run-bg"/>
          <p:cNvSpPr/>
          <p:nvPr/>
        </p:nvSpPr>
        <p:spPr>
          <a:xfrm>
            <a:off x="7132320" y="1600200"/>
            <a:ext cx="4480560" cy="1051560"/>
          </a:xfrm>
          <a:prstGeom prst="roundRect">
            <a:avLst>
              <a:gd name="adj" fmla="val 4000"/>
            </a:avLst>
          </a:prstGeom>
          <a:solidFill>
            <a:srgbClr val="0E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cript-run"/>
          <p:cNvSpPr txBox="1"/>
          <p:nvPr/>
        </p:nvSpPr>
        <p:spPr>
          <a:xfrm>
            <a:off x="7360920" y="1764792"/>
            <a:ext cx="4023360" cy="777239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400" b="0" i="0">
                <a:solidFill>
                  <a:srgbClr val="DCE6EE"/>
                </a:solidFill>
                <a:latin typeface="Consolas"/>
                <a:ea typeface="Microsoft JhengHei"/>
              </a:rPr>
              <a:t>ksub train.sh</a:t>
            </a:r>
          </a:p>
          <a:p>
            <a:pPr algn="l"/>
            <a:r>
              <a:rPr sz="14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400" b="0" i="0">
                <a:solidFill>
                  <a:srgbClr val="DCE6EE"/>
                </a:solidFill>
                <a:latin typeface="Consolas"/>
                <a:ea typeface="Microsoft JhengHei"/>
              </a:rPr>
              <a:t>ksub -G 1 train.sh </a:t>
            </a:r>
            <a:r>
              <a:rPr sz="1400" b="0" i="0">
                <a:solidFill>
                  <a:srgbClr val="8597A8"/>
                </a:solidFill>
                <a:latin typeface="Consolas"/>
                <a:ea typeface="Microsoft JhengHei"/>
              </a:rPr>
              <a:t>  # 這次只要 1 張</a:t>
            </a:r>
          </a:p>
        </p:txBody>
      </p:sp>
      <p:sp>
        <p:nvSpPr>
          <p:cNvPr id="8" name="script-tips"/>
          <p:cNvSpPr txBox="1"/>
          <p:nvPr/>
        </p:nvSpPr>
        <p:spPr>
          <a:xfrm>
            <a:off x="7132320" y="2880360"/>
            <a:ext cx="448056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3B26D"/>
                </a:solidFill>
                <a:latin typeface="Calibri"/>
                <a:ea typeface="Microsoft JhengHei"/>
              </a:rPr>
              <a:t>✓  </a:t>
            </a:r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用絕對路徑；程式、資料、輸出放在 /home/jovyan 或群組資料夾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3B26D"/>
                </a:solidFill>
                <a:latin typeface="Calibri"/>
                <a:ea typeface="Microsoft JhengHei"/>
              </a:rPr>
              <a:t>✓  </a:t>
            </a:r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多張 GPU 要程式支援（torchrun / DDP）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3B26D"/>
                </a:solidFill>
                <a:latin typeface="Calibri"/>
                <a:ea typeface="Microsoft JhengHei"/>
              </a:rPr>
              <a:t>✓  </a:t>
            </a:r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套件用 pip install --user 或在 /home/jovyan 建虛擬環境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3B26D"/>
                </a:solidFill>
                <a:latin typeface="Calibri"/>
                <a:ea typeface="Microsoft JhengHei"/>
              </a:rPr>
              <a:t>✓  </a:t>
            </a:r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-p、-A、--mail 等國網專用選項會略過</a:t>
            </a:r>
          </a:p>
        </p:txBody>
      </p:sp>
      <p:sp>
        <p:nvSpPr>
          <p:cNvPr id="9" name="pageno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56677A"/>
                </a:solidFill>
                <a:latin typeface="Calibri"/>
                <a:ea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B2733"/>
                </a:solidFill>
                <a:latin typeface="Calibri"/>
                <a:ea typeface="Microsoft JhengHei"/>
              </a:rPr>
              <a:t>排隊太久？跑失敗？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56677A"/>
                </a:solidFill>
                <a:latin typeface="Calibri"/>
                <a:ea typeface="Microsoft JhengHei"/>
              </a:rPr>
              <a:t>先用 kshow NAME 看原因</a:t>
            </a:r>
          </a:p>
        </p:txBody>
      </p:sp>
      <p:graphicFrame>
        <p:nvGraphicFramePr>
          <p:cNvPr id="4" name="pend"/>
          <p:cNvGraphicFramePr>
            <a:graphicFrameLocks noGrp="1"/>
          </p:cNvGraphicFramePr>
          <p:nvPr/>
        </p:nvGraphicFramePr>
        <p:xfrm>
          <a:off x="548640" y="1600200"/>
          <a:ext cx="5440680" cy="283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06040"/>
                <a:gridCol w="28346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排隊訊息</a:t>
                      </a:r>
                    </a:p>
                  </a:txBody>
                  <a:tcPr marL="91440" marR="91440" marT="36576" marB="36576" anchor="ctr">
                    <a:solidFill>
                      <a:srgbClr val="1E2E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怎麼辦</a:t>
                      </a:r>
                    </a:p>
                  </a:txBody>
                  <a:tcPr marL="91440" marR="91440" marT="36576" marB="36576" anchor="ctr">
                    <a:solidFill>
                      <a:srgbClr val="1E2E3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Insufficient nvidia.com/gpu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該型號滿了：等，或換有空位的型號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exceeded quota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配額用完：關掉閒置的 GPU Notebook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untolerated taint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受限節點，沒有權限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didn't match ... affinity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-g / -w 名稱錯了，看 ksinfo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fail"/>
          <p:cNvGraphicFramePr>
            <a:graphicFrameLocks noGrp="1"/>
          </p:cNvGraphicFramePr>
          <p:nvPr/>
        </p:nvGraphicFramePr>
        <p:xfrm>
          <a:off x="6172200" y="1600200"/>
          <a:ext cx="5440680" cy="283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4600"/>
                <a:gridCol w="292608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失敗訊息</a:t>
                      </a:r>
                    </a:p>
                  </a:txBody>
                  <a:tcPr marL="91440" marR="91440" marT="36576" marB="36576" anchor="ctr">
                    <a:solidFill>
                      <a:srgbClr val="1E2E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怎麼辦</a:t>
                      </a:r>
                    </a:p>
                  </a:txBody>
                  <a:tcPr marL="91440" marR="91440" marT="36576" marB="36576" anchor="ctr">
                    <a:solidFill>
                      <a:srgbClr val="1E2E3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exit code 137 OOMKilled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記憶體不足：加大 --mem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Bus error / DataLoader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共享記憶體不足：加大 --shm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CUDA out of memory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減小 batch 或換大記憶體 GPU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ModuleNotFoundError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套件裝在工作看不到的地方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tip-box"/>
          <p:cNvSpPr/>
          <p:nvPr/>
        </p:nvSpPr>
        <p:spPr>
          <a:xfrm>
            <a:off x="548640" y="4754880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ip"/>
          <p:cNvSpPr txBox="1"/>
          <p:nvPr/>
        </p:nvSpPr>
        <p:spPr>
          <a:xfrm>
            <a:off x="777240" y="4846320"/>
            <a:ext cx="1060704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alibri"/>
                <a:ea typeface="Microsoft JhengHei"/>
              </a:rPr>
              <a:t>小技巧  </a:t>
            </a:r>
            <a:r>
              <a:rPr sz="1600" b="0" i="0">
                <a:solidFill>
                  <a:srgbClr val="1B2733"/>
                </a:solidFill>
                <a:latin typeface="Calibri"/>
                <a:ea typeface="Microsoft JhengHei"/>
              </a:rPr>
              <a:t>加 -t 設時間上限、定期存 checkpoint；工作被停止時用 kacct 找到它，調整後重新提交。</a:t>
            </a:r>
          </a:p>
        </p:txBody>
      </p:sp>
      <p:sp>
        <p:nvSpPr>
          <p:cNvPr id="8" name="pageno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56677A"/>
                </a:solidFill>
                <a:latin typeface="Calibri"/>
                <a:ea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B2733"/>
                </a:solidFill>
                <a:latin typeface="Calibri"/>
                <a:ea typeface="Microsoft JhengHei"/>
              </a:rPr>
              <a:t>讓 AI 助手幫你提交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56677A"/>
                </a:solidFill>
                <a:latin typeface="Calibri"/>
                <a:ea typeface="Microsoft JhengHei"/>
              </a:rPr>
              <a:t>安裝 skill 後，用一句話描述需求</a:t>
            </a:r>
          </a:p>
        </p:txBody>
      </p:sp>
      <p:sp>
        <p:nvSpPr>
          <p:cNvPr id="4" name="ai-code-bg"/>
          <p:cNvSpPr/>
          <p:nvPr/>
        </p:nvSpPr>
        <p:spPr>
          <a:xfrm>
            <a:off x="548640" y="1600200"/>
            <a:ext cx="5486400" cy="1051560"/>
          </a:xfrm>
          <a:prstGeom prst="roundRect">
            <a:avLst>
              <a:gd name="adj" fmla="val 4000"/>
            </a:avLst>
          </a:prstGeom>
          <a:solidFill>
            <a:srgbClr val="0E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i-code"/>
          <p:cNvSpPr txBox="1"/>
          <p:nvPr/>
        </p:nvSpPr>
        <p:spPr>
          <a:xfrm>
            <a:off x="777240" y="1764792"/>
            <a:ext cx="5029200" cy="777239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400" b="0" i="0">
                <a:solidFill>
                  <a:srgbClr val="DCE6EE"/>
                </a:solidFill>
                <a:latin typeface="Consolas"/>
                <a:ea typeface="Microsoft JhengHei"/>
              </a:rPr>
              <a:t>kjob install-skills</a:t>
            </a:r>
          </a:p>
          <a:p>
            <a:pPr algn="l"/>
            <a:r>
              <a:rPr sz="1400" b="0" i="0">
                <a:solidFill>
                  <a:srgbClr val="DCE6EE"/>
                </a:solidFill>
                <a:latin typeface="Consolas"/>
                <a:ea typeface="Microsoft JhengHei"/>
              </a:rPr>
              <a:t>installed ~/.claude/skills/kjob-jobs/SKILL.md</a:t>
            </a:r>
          </a:p>
        </p:txBody>
      </p:sp>
      <p:sp>
        <p:nvSpPr>
          <p:cNvPr id="6" name="bubble-user"/>
          <p:cNvSpPr/>
          <p:nvPr/>
        </p:nvSpPr>
        <p:spPr>
          <a:xfrm>
            <a:off x="548640" y="2880360"/>
            <a:ext cx="5486400" cy="109728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ubble-user-t"/>
          <p:cNvSpPr txBox="1"/>
          <p:nvPr/>
        </p:nvSpPr>
        <p:spPr>
          <a:xfrm>
            <a:off x="731520" y="2971800"/>
            <a:ext cx="512064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B2733"/>
                </a:solidFill>
                <a:latin typeface="Calibri"/>
                <a:ea typeface="Microsoft JhengHei"/>
              </a:rPr>
              <a:t>你：</a:t>
            </a:r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用 kjob 幫我把 train.py 交到有空的 V100，2 張 GPU、跑 12 小時</a:t>
            </a:r>
          </a:p>
        </p:txBody>
      </p:sp>
      <p:sp>
        <p:nvSpPr>
          <p:cNvPr id="8" name="bubble-ai"/>
          <p:cNvSpPr/>
          <p:nvPr/>
        </p:nvSpPr>
        <p:spPr>
          <a:xfrm>
            <a:off x="548640" y="4160520"/>
            <a:ext cx="5486400" cy="1737360"/>
          </a:xfrm>
          <a:prstGeom prst="roundRect">
            <a:avLst>
              <a:gd name="adj" fmla="val 6000"/>
            </a:avLst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ubble-ai-t"/>
          <p:cNvSpPr txBox="1"/>
          <p:nvPr/>
        </p:nvSpPr>
        <p:spPr>
          <a:xfrm>
            <a:off x="731520" y="4251960"/>
            <a:ext cx="512064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B2733"/>
                </a:solidFill>
                <a:latin typeface="Calibri"/>
                <a:ea typeface="Microsoft JhengHei"/>
              </a:rPr>
              <a:t>AI：</a:t>
            </a:r>
          </a:p>
          <a:p>
            <a:pPr algn="l"/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ksinfo 確認 V100 有空 → 檢查路徑與參數 →</a:t>
            </a:r>
          </a:p>
          <a:p>
            <a:pPr algn="l"/>
            <a:r>
              <a:rPr sz="1500" b="0" i="0">
                <a:solidFill>
                  <a:srgbClr val="0B6B45"/>
                </a:solidFill>
                <a:latin typeface="Consolas"/>
                <a:ea typeface="Microsoft JhengHei"/>
              </a:rPr>
              <a:t>ksub -G 2 -g v100 -t 12h train.sh</a:t>
            </a:r>
          </a:p>
          <a:p>
            <a:pPr algn="l"/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→ 回報工作名稱與日誌位置</a:t>
            </a:r>
          </a:p>
        </p:txBody>
      </p:sp>
      <p:sp>
        <p:nvSpPr>
          <p:cNvPr id="10" name="ai-rules-h"/>
          <p:cNvSpPr txBox="1"/>
          <p:nvPr/>
        </p:nvSpPr>
        <p:spPr>
          <a:xfrm>
            <a:off x="6400800" y="1600200"/>
            <a:ext cx="5212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B2733"/>
                </a:solidFill>
                <a:latin typeface="Calibri"/>
                <a:ea typeface="Microsoft JhengHei"/>
              </a:rPr>
              <a:t>skill 規定 AI：</a:t>
            </a:r>
          </a:p>
        </p:txBody>
      </p:sp>
      <p:sp>
        <p:nvSpPr>
          <p:cNvPr id="11" name="ai-rules"/>
          <p:cNvSpPr txBox="1"/>
          <p:nvPr/>
        </p:nvSpPr>
        <p:spPr>
          <a:xfrm>
            <a:off x="6400800" y="2148840"/>
            <a:ext cx="521208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23B26D"/>
                </a:solidFill>
                <a:latin typeface="Calibri"/>
                <a:ea typeface="Microsoft JhengHei"/>
              </a:rPr>
              <a:t>✓  </a:t>
            </a:r>
            <a:r>
              <a:rPr sz="1600" b="0" i="0">
                <a:solidFill>
                  <a:srgbClr val="1B2733"/>
                </a:solidFill>
                <a:latin typeface="Calibri"/>
                <a:ea typeface="Microsoft JhengHei"/>
              </a:rPr>
              <a:t>只動你自己的工作，不取消別人的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23B26D"/>
                </a:solidFill>
                <a:latin typeface="Calibri"/>
                <a:ea typeface="Microsoft JhengHei"/>
              </a:rPr>
              <a:t>✓  </a:t>
            </a:r>
            <a:r>
              <a:rPr sz="1600" b="0" i="0">
                <a:solidFill>
                  <a:srgbClr val="1B2733"/>
                </a:solidFill>
                <a:latin typeface="Calibri"/>
                <a:ea typeface="Microsoft JhengHei"/>
              </a:rPr>
              <a:t>資源要剛好，不搶整台 GPU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23B26D"/>
                </a:solidFill>
                <a:latin typeface="Calibri"/>
                <a:ea typeface="Microsoft JhengHei"/>
              </a:rPr>
              <a:t>✓  </a:t>
            </a:r>
            <a:r>
              <a:rPr sz="1600" b="0" i="0">
                <a:solidFill>
                  <a:srgbClr val="1B2733"/>
                </a:solidFill>
                <a:latin typeface="Calibri"/>
                <a:ea typeface="Microsoft JhengHei"/>
              </a:rPr>
              <a:t>長時間工作一定加 -t 時間上限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23B26D"/>
                </a:solidFill>
                <a:latin typeface="Calibri"/>
                <a:ea typeface="Microsoft JhengHei"/>
              </a:rPr>
              <a:t>✓  </a:t>
            </a:r>
            <a:r>
              <a:rPr sz="1600" b="0" i="0">
                <a:solidFill>
                  <a:srgbClr val="1B2733"/>
                </a:solidFill>
                <a:latin typeface="Calibri"/>
                <a:ea typeface="Microsoft JhengHei"/>
              </a:rPr>
              <a:t>刪除多個工作前先問你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23B26D"/>
                </a:solidFill>
                <a:latin typeface="Calibri"/>
                <a:ea typeface="Microsoft JhengHei"/>
              </a:rPr>
              <a:t>✓  </a:t>
            </a:r>
            <a:r>
              <a:rPr sz="1600" b="0" i="0">
                <a:solidFill>
                  <a:srgbClr val="1B2733"/>
                </a:solidFill>
                <a:latin typeface="Calibri"/>
                <a:ea typeface="Microsoft JhengHei"/>
              </a:rPr>
              <a:t>提交後回報名稱、型號、日誌路徑</a:t>
            </a:r>
          </a:p>
        </p:txBody>
      </p:sp>
      <p:sp>
        <p:nvSpPr>
          <p:cNvPr id="12" name="ai-note"/>
          <p:cNvSpPr txBox="1"/>
          <p:nvPr/>
        </p:nvSpPr>
        <p:spPr>
          <a:xfrm>
            <a:off x="6400800" y="5120640"/>
            <a:ext cx="52120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6677A"/>
                </a:solidFill>
                <a:latin typeface="Calibri"/>
                <a:ea typeface="Microsoft JhengHei"/>
              </a:rPr>
              <a:t>還沒安裝 kjob？請 AI 讀 kjob/skills/kjob-install/SKILL.md 照做</a:t>
            </a:r>
          </a:p>
        </p:txBody>
      </p:sp>
      <p:sp>
        <p:nvSpPr>
          <p:cNvPr id="13" name="pageno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56677A"/>
                </a:solidFill>
                <a:latin typeface="Calibri"/>
                <a:ea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B2733"/>
                </a:solidFill>
                <a:latin typeface="Calibri"/>
                <a:ea typeface="Microsoft JhengHei"/>
              </a:rPr>
              <a:t>指令總整理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56677A"/>
                </a:solidFill>
                <a:latin typeface="Calibri"/>
                <a:ea typeface="Microsoft JhengHei"/>
              </a:rPr>
              <a:t>kjob 子指令也可以用：kjob submit = ksub、kjob sinfo = ksinfo</a:t>
            </a:r>
          </a:p>
        </p:txBody>
      </p:sp>
      <p:sp>
        <p:nvSpPr>
          <p:cNvPr id="4" name="cheat-0"/>
          <p:cNvSpPr/>
          <p:nvPr/>
        </p:nvSpPr>
        <p:spPr>
          <a:xfrm>
            <a:off x="548640" y="164592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at-c-0"/>
          <p:cNvSpPr txBox="1"/>
          <p:nvPr/>
        </p:nvSpPr>
        <p:spPr>
          <a:xfrm>
            <a:off x="731520" y="1810512"/>
            <a:ext cx="2286000" cy="45720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6B45"/>
                </a:solidFill>
                <a:latin typeface="Consolas"/>
                <a:ea typeface="Microsoft JhengHei"/>
              </a:rPr>
              <a:t>ksub</a:t>
            </a:r>
          </a:p>
        </p:txBody>
      </p:sp>
      <p:sp>
        <p:nvSpPr>
          <p:cNvPr id="6" name="cheat-d-0"/>
          <p:cNvSpPr txBox="1"/>
          <p:nvPr/>
        </p:nvSpPr>
        <p:spPr>
          <a:xfrm>
            <a:off x="731520" y="2304288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背景提交</a:t>
            </a:r>
          </a:p>
        </p:txBody>
      </p:sp>
      <p:sp>
        <p:nvSpPr>
          <p:cNvPr id="7" name="cheat-1"/>
          <p:cNvSpPr/>
          <p:nvPr/>
        </p:nvSpPr>
        <p:spPr>
          <a:xfrm>
            <a:off x="3355848" y="164592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eat-c-1"/>
          <p:cNvSpPr txBox="1"/>
          <p:nvPr/>
        </p:nvSpPr>
        <p:spPr>
          <a:xfrm>
            <a:off x="3538728" y="1810512"/>
            <a:ext cx="2286000" cy="45720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6B45"/>
                </a:solidFill>
                <a:latin typeface="Consolas"/>
                <a:ea typeface="Microsoft JhengHei"/>
              </a:rPr>
              <a:t>ksrun</a:t>
            </a:r>
          </a:p>
        </p:txBody>
      </p:sp>
      <p:sp>
        <p:nvSpPr>
          <p:cNvPr id="9" name="cheat-d-1"/>
          <p:cNvSpPr txBox="1"/>
          <p:nvPr/>
        </p:nvSpPr>
        <p:spPr>
          <a:xfrm>
            <a:off x="3538728" y="2304288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提交並即時看</a:t>
            </a:r>
          </a:p>
        </p:txBody>
      </p:sp>
      <p:sp>
        <p:nvSpPr>
          <p:cNvPr id="10" name="cheat-2"/>
          <p:cNvSpPr/>
          <p:nvPr/>
        </p:nvSpPr>
        <p:spPr>
          <a:xfrm>
            <a:off x="6163055" y="164592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at-c-2"/>
          <p:cNvSpPr txBox="1"/>
          <p:nvPr/>
        </p:nvSpPr>
        <p:spPr>
          <a:xfrm>
            <a:off x="6345936" y="1810512"/>
            <a:ext cx="2286000" cy="45720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6B45"/>
                </a:solidFill>
                <a:latin typeface="Consolas"/>
                <a:ea typeface="Microsoft JhengHei"/>
              </a:rPr>
              <a:t>kqueue</a:t>
            </a:r>
          </a:p>
        </p:txBody>
      </p:sp>
      <p:sp>
        <p:nvSpPr>
          <p:cNvPr id="12" name="cheat-d-2"/>
          <p:cNvSpPr txBox="1"/>
          <p:nvPr/>
        </p:nvSpPr>
        <p:spPr>
          <a:xfrm>
            <a:off x="6345936" y="2304288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我的工作</a:t>
            </a:r>
          </a:p>
        </p:txBody>
      </p:sp>
      <p:sp>
        <p:nvSpPr>
          <p:cNvPr id="13" name="cheat-3"/>
          <p:cNvSpPr/>
          <p:nvPr/>
        </p:nvSpPr>
        <p:spPr>
          <a:xfrm>
            <a:off x="8970263" y="164592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at-c-3"/>
          <p:cNvSpPr txBox="1"/>
          <p:nvPr/>
        </p:nvSpPr>
        <p:spPr>
          <a:xfrm>
            <a:off x="9153143" y="1810512"/>
            <a:ext cx="2286000" cy="45720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6B45"/>
                </a:solidFill>
                <a:latin typeface="Consolas"/>
                <a:ea typeface="Microsoft JhengHei"/>
              </a:rPr>
              <a:t>kqueue -A</a:t>
            </a:r>
          </a:p>
        </p:txBody>
      </p:sp>
      <p:sp>
        <p:nvSpPr>
          <p:cNvPr id="15" name="cheat-d-3"/>
          <p:cNvSpPr txBox="1"/>
          <p:nvPr/>
        </p:nvSpPr>
        <p:spPr>
          <a:xfrm>
            <a:off x="9153143" y="2304288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全叢集工作</a:t>
            </a:r>
          </a:p>
        </p:txBody>
      </p:sp>
      <p:sp>
        <p:nvSpPr>
          <p:cNvPr id="16" name="cheat-4"/>
          <p:cNvSpPr/>
          <p:nvPr/>
        </p:nvSpPr>
        <p:spPr>
          <a:xfrm>
            <a:off x="548640" y="310896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at-c-4"/>
          <p:cNvSpPr txBox="1"/>
          <p:nvPr/>
        </p:nvSpPr>
        <p:spPr>
          <a:xfrm>
            <a:off x="731520" y="3273552"/>
            <a:ext cx="2286000" cy="45720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6B45"/>
                </a:solidFill>
                <a:latin typeface="Consolas"/>
                <a:ea typeface="Microsoft JhengHei"/>
              </a:rPr>
              <a:t>ksinfo</a:t>
            </a:r>
          </a:p>
        </p:txBody>
      </p:sp>
      <p:sp>
        <p:nvSpPr>
          <p:cNvPr id="18" name="cheat-d-4"/>
          <p:cNvSpPr txBox="1"/>
          <p:nvPr/>
        </p:nvSpPr>
        <p:spPr>
          <a:xfrm>
            <a:off x="731520" y="3767328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GPU 空位</a:t>
            </a:r>
          </a:p>
        </p:txBody>
      </p:sp>
      <p:sp>
        <p:nvSpPr>
          <p:cNvPr id="19" name="cheat-5"/>
          <p:cNvSpPr/>
          <p:nvPr/>
        </p:nvSpPr>
        <p:spPr>
          <a:xfrm>
            <a:off x="3355848" y="310896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at-c-5"/>
          <p:cNvSpPr txBox="1"/>
          <p:nvPr/>
        </p:nvSpPr>
        <p:spPr>
          <a:xfrm>
            <a:off x="3538728" y="3273552"/>
            <a:ext cx="2286000" cy="45720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6B45"/>
                </a:solidFill>
                <a:latin typeface="Consolas"/>
                <a:ea typeface="Microsoft JhengHei"/>
              </a:rPr>
              <a:t>kshow NAME</a:t>
            </a:r>
          </a:p>
        </p:txBody>
      </p:sp>
      <p:sp>
        <p:nvSpPr>
          <p:cNvPr id="21" name="cheat-d-5"/>
          <p:cNvSpPr txBox="1"/>
          <p:nvPr/>
        </p:nvSpPr>
        <p:spPr>
          <a:xfrm>
            <a:off x="3538728" y="3767328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工作詳細</a:t>
            </a:r>
          </a:p>
        </p:txBody>
      </p:sp>
      <p:sp>
        <p:nvSpPr>
          <p:cNvPr id="22" name="cheat-6"/>
          <p:cNvSpPr/>
          <p:nvPr/>
        </p:nvSpPr>
        <p:spPr>
          <a:xfrm>
            <a:off x="6163055" y="310896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eat-c-6"/>
          <p:cNvSpPr txBox="1"/>
          <p:nvPr/>
        </p:nvSpPr>
        <p:spPr>
          <a:xfrm>
            <a:off x="6345936" y="3273552"/>
            <a:ext cx="2286000" cy="45720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6B45"/>
                </a:solidFill>
                <a:latin typeface="Consolas"/>
                <a:ea typeface="Microsoft JhengHei"/>
              </a:rPr>
              <a:t>klogs NAME -f</a:t>
            </a:r>
          </a:p>
        </p:txBody>
      </p:sp>
      <p:sp>
        <p:nvSpPr>
          <p:cNvPr id="24" name="cheat-d-6"/>
          <p:cNvSpPr txBox="1"/>
          <p:nvPr/>
        </p:nvSpPr>
        <p:spPr>
          <a:xfrm>
            <a:off x="6345936" y="3767328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即時輸出</a:t>
            </a:r>
          </a:p>
        </p:txBody>
      </p:sp>
      <p:sp>
        <p:nvSpPr>
          <p:cNvPr id="25" name="cheat-7"/>
          <p:cNvSpPr/>
          <p:nvPr/>
        </p:nvSpPr>
        <p:spPr>
          <a:xfrm>
            <a:off x="8970263" y="310896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eat-c-7"/>
          <p:cNvSpPr txBox="1"/>
          <p:nvPr/>
        </p:nvSpPr>
        <p:spPr>
          <a:xfrm>
            <a:off x="9153143" y="3273552"/>
            <a:ext cx="2286000" cy="45720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6B45"/>
                </a:solidFill>
                <a:latin typeface="Consolas"/>
                <a:ea typeface="Microsoft JhengHei"/>
              </a:rPr>
              <a:t>kwait NAME</a:t>
            </a:r>
          </a:p>
        </p:txBody>
      </p:sp>
      <p:sp>
        <p:nvSpPr>
          <p:cNvPr id="27" name="cheat-d-7"/>
          <p:cNvSpPr txBox="1"/>
          <p:nvPr/>
        </p:nvSpPr>
        <p:spPr>
          <a:xfrm>
            <a:off x="9153143" y="3767328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等待結束</a:t>
            </a:r>
          </a:p>
        </p:txBody>
      </p:sp>
      <p:sp>
        <p:nvSpPr>
          <p:cNvPr id="28" name="cheat-8"/>
          <p:cNvSpPr/>
          <p:nvPr/>
        </p:nvSpPr>
        <p:spPr>
          <a:xfrm>
            <a:off x="548640" y="457200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eat-c-8"/>
          <p:cNvSpPr txBox="1"/>
          <p:nvPr/>
        </p:nvSpPr>
        <p:spPr>
          <a:xfrm>
            <a:off x="731520" y="4736592"/>
            <a:ext cx="2286000" cy="45720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6B45"/>
                </a:solidFill>
                <a:latin typeface="Consolas"/>
                <a:ea typeface="Microsoft JhengHei"/>
              </a:rPr>
              <a:t>kacct</a:t>
            </a:r>
          </a:p>
        </p:txBody>
      </p:sp>
      <p:sp>
        <p:nvSpPr>
          <p:cNvPr id="30" name="cheat-d-8"/>
          <p:cNvSpPr txBox="1"/>
          <p:nvPr/>
        </p:nvSpPr>
        <p:spPr>
          <a:xfrm>
            <a:off x="731520" y="5230368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歷史紀錄</a:t>
            </a:r>
          </a:p>
        </p:txBody>
      </p:sp>
      <p:sp>
        <p:nvSpPr>
          <p:cNvPr id="31" name="cheat-9"/>
          <p:cNvSpPr/>
          <p:nvPr/>
        </p:nvSpPr>
        <p:spPr>
          <a:xfrm>
            <a:off x="3355848" y="457200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eat-c-9"/>
          <p:cNvSpPr txBox="1"/>
          <p:nvPr/>
        </p:nvSpPr>
        <p:spPr>
          <a:xfrm>
            <a:off x="3538728" y="4736592"/>
            <a:ext cx="2286000" cy="45720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6B45"/>
                </a:solidFill>
                <a:latin typeface="Consolas"/>
                <a:ea typeface="Microsoft JhengHei"/>
              </a:rPr>
              <a:t>kcancel NAME</a:t>
            </a:r>
          </a:p>
        </p:txBody>
      </p:sp>
      <p:sp>
        <p:nvSpPr>
          <p:cNvPr id="33" name="cheat-d-9"/>
          <p:cNvSpPr txBox="1"/>
          <p:nvPr/>
        </p:nvSpPr>
        <p:spPr>
          <a:xfrm>
            <a:off x="3538728" y="5230368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取消工作</a:t>
            </a:r>
          </a:p>
        </p:txBody>
      </p:sp>
      <p:sp>
        <p:nvSpPr>
          <p:cNvPr id="34" name="cheat-10"/>
          <p:cNvSpPr/>
          <p:nvPr/>
        </p:nvSpPr>
        <p:spPr>
          <a:xfrm>
            <a:off x="6163055" y="457200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eat-c-10"/>
          <p:cNvSpPr txBox="1"/>
          <p:nvPr/>
        </p:nvSpPr>
        <p:spPr>
          <a:xfrm>
            <a:off x="6345936" y="4736592"/>
            <a:ext cx="2286000" cy="45720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6B45"/>
                </a:solidFill>
                <a:latin typeface="Consolas"/>
                <a:ea typeface="Microsoft JhengHei"/>
              </a:rPr>
              <a:t>kclean</a:t>
            </a:r>
          </a:p>
        </p:txBody>
      </p:sp>
      <p:sp>
        <p:nvSpPr>
          <p:cNvPr id="36" name="cheat-d-10"/>
          <p:cNvSpPr txBox="1"/>
          <p:nvPr/>
        </p:nvSpPr>
        <p:spPr>
          <a:xfrm>
            <a:off x="6345936" y="5230368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清掉已結束的</a:t>
            </a:r>
          </a:p>
        </p:txBody>
      </p:sp>
      <p:sp>
        <p:nvSpPr>
          <p:cNvPr id="37" name="cheat-11"/>
          <p:cNvSpPr/>
          <p:nvPr/>
        </p:nvSpPr>
        <p:spPr>
          <a:xfrm>
            <a:off x="8970263" y="457200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eat-c-11"/>
          <p:cNvSpPr txBox="1"/>
          <p:nvPr/>
        </p:nvSpPr>
        <p:spPr>
          <a:xfrm>
            <a:off x="9153143" y="4736592"/>
            <a:ext cx="2286000" cy="45720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6B45"/>
                </a:solidFill>
                <a:latin typeface="Consolas"/>
                <a:ea typeface="Microsoft JhengHei"/>
              </a:rPr>
              <a:t>kinfo</a:t>
            </a:r>
          </a:p>
        </p:txBody>
      </p:sp>
      <p:sp>
        <p:nvSpPr>
          <p:cNvPr id="39" name="cheat-d-11"/>
          <p:cNvSpPr txBox="1"/>
          <p:nvPr/>
        </p:nvSpPr>
        <p:spPr>
          <a:xfrm>
            <a:off x="9153143" y="5230368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我的環境與配額</a:t>
            </a:r>
          </a:p>
        </p:txBody>
      </p:sp>
      <p:sp>
        <p:nvSpPr>
          <p:cNvPr id="40" name="pageno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56677A"/>
                </a:solidFill>
                <a:latin typeface="Calibri"/>
                <a:ea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nd-title"/>
          <p:cNvSpPr txBox="1"/>
          <p:nvPr/>
        </p:nvSpPr>
        <p:spPr>
          <a:xfrm>
            <a:off x="731520" y="82296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  <a:ea typeface="Microsoft JhengHei"/>
              </a:rPr>
              <a:t>文件與下一步</a:t>
            </a:r>
          </a:p>
        </p:txBody>
      </p:sp>
      <p:sp>
        <p:nvSpPr>
          <p:cNvPr id="3" name="doc-f-0"/>
          <p:cNvSpPr txBox="1"/>
          <p:nvPr/>
        </p:nvSpPr>
        <p:spPr>
          <a:xfrm>
            <a:off x="731520" y="1920240"/>
            <a:ext cx="4023360" cy="50292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4FD69C"/>
                </a:solidFill>
                <a:latin typeface="Consolas"/>
                <a:ea typeface="Microsoft JhengHei"/>
              </a:rPr>
              <a:t>README.md</a:t>
            </a:r>
          </a:p>
        </p:txBody>
      </p:sp>
      <p:sp>
        <p:nvSpPr>
          <p:cNvPr id="4" name="doc-d-0"/>
          <p:cNvSpPr txBox="1"/>
          <p:nvPr/>
        </p:nvSpPr>
        <p:spPr>
          <a:xfrm>
            <a:off x="4846320" y="1920240"/>
            <a:ext cx="6400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DCE6EE"/>
                </a:solidFill>
                <a:latin typeface="Calibri"/>
                <a:ea typeface="Microsoft JhengHei"/>
              </a:rPr>
              <a:t>簡介、安裝、指令一覽</a:t>
            </a:r>
          </a:p>
        </p:txBody>
      </p:sp>
      <p:sp>
        <p:nvSpPr>
          <p:cNvPr id="5" name="doc-f-1"/>
          <p:cNvSpPr txBox="1"/>
          <p:nvPr/>
        </p:nvSpPr>
        <p:spPr>
          <a:xfrm>
            <a:off x="731520" y="2633472"/>
            <a:ext cx="4023360" cy="50292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4FD69C"/>
                </a:solidFill>
                <a:latin typeface="Consolas"/>
                <a:ea typeface="Microsoft JhengHei"/>
              </a:rPr>
              <a:t>TRIAL_GUIDE.md</a:t>
            </a:r>
          </a:p>
        </p:txBody>
      </p:sp>
      <p:sp>
        <p:nvSpPr>
          <p:cNvPr id="6" name="doc-d-1"/>
          <p:cNvSpPr txBox="1"/>
          <p:nvPr/>
        </p:nvSpPr>
        <p:spPr>
          <a:xfrm>
            <a:off x="4846320" y="2633472"/>
            <a:ext cx="6400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DCE6EE"/>
                </a:solidFill>
                <a:latin typeface="Calibri"/>
                <a:ea typeface="Microsoft JhengHei"/>
              </a:rPr>
              <a:t>10 分鐘新手上手</a:t>
            </a:r>
          </a:p>
        </p:txBody>
      </p:sp>
      <p:sp>
        <p:nvSpPr>
          <p:cNvPr id="7" name="doc-f-2"/>
          <p:cNvSpPr txBox="1"/>
          <p:nvPr/>
        </p:nvSpPr>
        <p:spPr>
          <a:xfrm>
            <a:off x="731520" y="3346704"/>
            <a:ext cx="4023360" cy="50292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4FD69C"/>
                </a:solidFill>
                <a:latin typeface="Consolas"/>
                <a:ea typeface="Microsoft JhengHei"/>
              </a:rPr>
              <a:t>docs/USER_GUIDE.md</a:t>
            </a:r>
          </a:p>
        </p:txBody>
      </p:sp>
      <p:sp>
        <p:nvSpPr>
          <p:cNvPr id="8" name="doc-d-2"/>
          <p:cNvSpPr txBox="1"/>
          <p:nvPr/>
        </p:nvSpPr>
        <p:spPr>
          <a:xfrm>
            <a:off x="4846320" y="3346704"/>
            <a:ext cx="6400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DCE6EE"/>
                </a:solidFill>
                <a:latin typeface="Calibri"/>
                <a:ea typeface="Microsoft JhengHei"/>
              </a:rPr>
              <a:t>所有指令與選項、排錯</a:t>
            </a:r>
          </a:p>
        </p:txBody>
      </p:sp>
      <p:sp>
        <p:nvSpPr>
          <p:cNvPr id="9" name="doc-f-3"/>
          <p:cNvSpPr txBox="1"/>
          <p:nvPr/>
        </p:nvSpPr>
        <p:spPr>
          <a:xfrm>
            <a:off x="731520" y="4059935"/>
            <a:ext cx="4023360" cy="50292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4FD69C"/>
                </a:solidFill>
                <a:latin typeface="Consolas"/>
                <a:ea typeface="Microsoft JhengHei"/>
              </a:rPr>
              <a:t>docs/ADMIN.md</a:t>
            </a:r>
          </a:p>
        </p:txBody>
      </p:sp>
      <p:sp>
        <p:nvSpPr>
          <p:cNvPr id="10" name="doc-d-3"/>
          <p:cNvSpPr txBox="1"/>
          <p:nvPr/>
        </p:nvSpPr>
        <p:spPr>
          <a:xfrm>
            <a:off x="4846320" y="4059935"/>
            <a:ext cx="6400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DCE6EE"/>
                </a:solidFill>
                <a:latin typeface="Calibri"/>
                <a:ea typeface="Microsoft JhengHei"/>
              </a:rPr>
              <a:t>管理員：權限、叢集狀態服務</a:t>
            </a:r>
          </a:p>
        </p:txBody>
      </p:sp>
      <p:sp>
        <p:nvSpPr>
          <p:cNvPr id="11" name="doc-f-4"/>
          <p:cNvSpPr txBox="1"/>
          <p:nvPr/>
        </p:nvSpPr>
        <p:spPr>
          <a:xfrm>
            <a:off x="731520" y="4773168"/>
            <a:ext cx="4023360" cy="502920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4FD69C"/>
                </a:solidFill>
                <a:latin typeface="Consolas"/>
                <a:ea typeface="Microsoft JhengHei"/>
              </a:rPr>
              <a:t>kjob/skills/</a:t>
            </a:r>
          </a:p>
        </p:txBody>
      </p:sp>
      <p:sp>
        <p:nvSpPr>
          <p:cNvPr id="12" name="doc-d-4"/>
          <p:cNvSpPr txBox="1"/>
          <p:nvPr/>
        </p:nvSpPr>
        <p:spPr>
          <a:xfrm>
            <a:off x="4846320" y="4773168"/>
            <a:ext cx="6400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DCE6EE"/>
                </a:solidFill>
                <a:latin typeface="Calibri"/>
                <a:ea typeface="Microsoft JhengHei"/>
              </a:rPr>
              <a:t>AI 助手 skill</a:t>
            </a:r>
          </a:p>
        </p:txBody>
      </p:sp>
      <p:sp>
        <p:nvSpPr>
          <p:cNvPr id="13" name="end-url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8597A8"/>
                </a:solidFill>
                <a:latin typeface="Calibri"/>
                <a:ea typeface="Microsoft JhengHei"/>
              </a:rPr>
              <a:t>github.com/MarkJiang-maji/kjob  (branch: cgu-public)  ·  問題請開 GitHub Issue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kjob 教學：在 Notebook 提交 GPU 工作</dc:title>
  <dc:subject/>
  <dc:creator>kjob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